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2" r:id="rId3"/>
    <p:sldId id="280" r:id="rId4"/>
    <p:sldId id="258" r:id="rId5"/>
    <p:sldId id="281" r:id="rId6"/>
    <p:sldId id="260" r:id="rId7"/>
    <p:sldId id="261" r:id="rId8"/>
    <p:sldId id="262" r:id="rId9"/>
    <p:sldId id="259" r:id="rId10"/>
    <p:sldId id="263" r:id="rId11"/>
    <p:sldId id="264" r:id="rId12"/>
    <p:sldId id="265" r:id="rId13"/>
    <p:sldId id="266" r:id="rId14"/>
    <p:sldId id="267" r:id="rId15"/>
    <p:sldId id="268" r:id="rId16"/>
    <p:sldId id="283" r:id="rId17"/>
    <p:sldId id="269" r:id="rId18"/>
    <p:sldId id="270" r:id="rId19"/>
    <p:sldId id="278" r:id="rId20"/>
    <p:sldId id="279" r:id="rId21"/>
    <p:sldId id="276" r:id="rId22"/>
    <p:sldId id="277" r:id="rId23"/>
    <p:sldId id="284" r:id="rId24"/>
    <p:sldId id="271" r:id="rId25"/>
    <p:sldId id="285" r:id="rId26"/>
    <p:sldId id="272" r:id="rId27"/>
    <p:sldId id="286" r:id="rId28"/>
    <p:sldId id="273" r:id="rId29"/>
    <p:sldId id="287" r:id="rId30"/>
    <p:sldId id="27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6BECF-E084-0138-CCD9-BC5AD4A4CD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D16598-3143-B335-C73D-090A5D8E0A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61CFE8-D413-1B71-A065-D656D656FE82}"/>
              </a:ext>
            </a:extLst>
          </p:cNvPr>
          <p:cNvSpPr>
            <a:spLocks noGrp="1"/>
          </p:cNvSpPr>
          <p:nvPr>
            <p:ph type="dt" sz="half" idx="10"/>
          </p:nvPr>
        </p:nvSpPr>
        <p:spPr/>
        <p:txBody>
          <a:bodyPr/>
          <a:lstStyle/>
          <a:p>
            <a:fld id="{FD7BB0E1-3EC7-430B-A8AE-A948CF54CE72}" type="datetimeFigureOut">
              <a:rPr lang="en-US" smtClean="0"/>
              <a:t>2/25/2026</a:t>
            </a:fld>
            <a:endParaRPr lang="en-US"/>
          </a:p>
        </p:txBody>
      </p:sp>
      <p:sp>
        <p:nvSpPr>
          <p:cNvPr id="5" name="Footer Placeholder 4">
            <a:extLst>
              <a:ext uri="{FF2B5EF4-FFF2-40B4-BE49-F238E27FC236}">
                <a16:creationId xmlns:a16="http://schemas.microsoft.com/office/drawing/2014/main" id="{C82B69F3-0107-0C34-01B6-DCCA6AD687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ABF0F5-BCC5-1D60-767C-825190C57439}"/>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2772495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B9DA-9333-4BFB-DEAD-CDF75A2B07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6FCF9F-ACCD-BE47-7243-E4DE3D08A6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68496B-654D-AA98-CDD9-F11D64741FB5}"/>
              </a:ext>
            </a:extLst>
          </p:cNvPr>
          <p:cNvSpPr>
            <a:spLocks noGrp="1"/>
          </p:cNvSpPr>
          <p:nvPr>
            <p:ph type="dt" sz="half" idx="10"/>
          </p:nvPr>
        </p:nvSpPr>
        <p:spPr/>
        <p:txBody>
          <a:bodyPr/>
          <a:lstStyle/>
          <a:p>
            <a:fld id="{FD7BB0E1-3EC7-430B-A8AE-A948CF54CE72}" type="datetimeFigureOut">
              <a:rPr lang="en-US" smtClean="0"/>
              <a:t>2/25/2026</a:t>
            </a:fld>
            <a:endParaRPr lang="en-US"/>
          </a:p>
        </p:txBody>
      </p:sp>
      <p:sp>
        <p:nvSpPr>
          <p:cNvPr id="5" name="Footer Placeholder 4">
            <a:extLst>
              <a:ext uri="{FF2B5EF4-FFF2-40B4-BE49-F238E27FC236}">
                <a16:creationId xmlns:a16="http://schemas.microsoft.com/office/drawing/2014/main" id="{DB7FB5C7-F5C0-B78E-32A4-259F08ADCA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8C3D45-16BB-23F3-0478-CEBFCE0A8809}"/>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3005762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636A1-35AC-7AAA-977C-5B2EF6A5B2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E03F90-7CB1-D75F-C4B3-1D274B6897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02402C-7331-9370-1417-BB5D1D29290F}"/>
              </a:ext>
            </a:extLst>
          </p:cNvPr>
          <p:cNvSpPr>
            <a:spLocks noGrp="1"/>
          </p:cNvSpPr>
          <p:nvPr>
            <p:ph type="dt" sz="half" idx="10"/>
          </p:nvPr>
        </p:nvSpPr>
        <p:spPr/>
        <p:txBody>
          <a:bodyPr/>
          <a:lstStyle/>
          <a:p>
            <a:fld id="{FD7BB0E1-3EC7-430B-A8AE-A948CF54CE72}" type="datetimeFigureOut">
              <a:rPr lang="en-US" smtClean="0"/>
              <a:t>2/25/2026</a:t>
            </a:fld>
            <a:endParaRPr lang="en-US"/>
          </a:p>
        </p:txBody>
      </p:sp>
      <p:sp>
        <p:nvSpPr>
          <p:cNvPr id="5" name="Footer Placeholder 4">
            <a:extLst>
              <a:ext uri="{FF2B5EF4-FFF2-40B4-BE49-F238E27FC236}">
                <a16:creationId xmlns:a16="http://schemas.microsoft.com/office/drawing/2014/main" id="{F25E9F0A-C1DC-A6EC-681F-C3A2A0101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BC80FF-966E-920E-216B-253B604E9200}"/>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2482306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F6166-3D19-3344-7CD4-9AF660C919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FCD1F3-9E04-04CA-3AC5-75F9BC583D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F1912D-9720-A7C0-3E11-6524AEE378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52BFED-6B86-CB13-EFB8-CED8C5C33C60}"/>
              </a:ext>
            </a:extLst>
          </p:cNvPr>
          <p:cNvSpPr>
            <a:spLocks noGrp="1"/>
          </p:cNvSpPr>
          <p:nvPr>
            <p:ph type="dt" sz="half" idx="10"/>
          </p:nvPr>
        </p:nvSpPr>
        <p:spPr/>
        <p:txBody>
          <a:bodyPr/>
          <a:lstStyle/>
          <a:p>
            <a:fld id="{FD7BB0E1-3EC7-430B-A8AE-A948CF54CE72}" type="datetimeFigureOut">
              <a:rPr lang="en-US" smtClean="0"/>
              <a:t>2/25/2026</a:t>
            </a:fld>
            <a:endParaRPr lang="en-US"/>
          </a:p>
        </p:txBody>
      </p:sp>
      <p:sp>
        <p:nvSpPr>
          <p:cNvPr id="6" name="Footer Placeholder 5">
            <a:extLst>
              <a:ext uri="{FF2B5EF4-FFF2-40B4-BE49-F238E27FC236}">
                <a16:creationId xmlns:a16="http://schemas.microsoft.com/office/drawing/2014/main" id="{9B9734AC-7119-550D-FEC1-CDAFD96A98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A91AE1-6957-3E89-3B7D-415D1343B071}"/>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454215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F9563-C042-4251-AD34-B9879562CB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26499D-9542-65E5-6CE5-80BDA8909C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B086C6-1EF6-DE4D-FB72-2C20DBA80C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A9F672-1494-02FF-0D03-BA89A8D4FE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83C3AA-0061-016C-178D-291DEE7514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38F17B-4911-260A-D967-03D86B439CE1}"/>
              </a:ext>
            </a:extLst>
          </p:cNvPr>
          <p:cNvSpPr>
            <a:spLocks noGrp="1"/>
          </p:cNvSpPr>
          <p:nvPr>
            <p:ph type="dt" sz="half" idx="10"/>
          </p:nvPr>
        </p:nvSpPr>
        <p:spPr/>
        <p:txBody>
          <a:bodyPr/>
          <a:lstStyle/>
          <a:p>
            <a:fld id="{FD7BB0E1-3EC7-430B-A8AE-A948CF54CE72}" type="datetimeFigureOut">
              <a:rPr lang="en-US" smtClean="0"/>
              <a:t>2/25/2026</a:t>
            </a:fld>
            <a:endParaRPr lang="en-US"/>
          </a:p>
        </p:txBody>
      </p:sp>
      <p:sp>
        <p:nvSpPr>
          <p:cNvPr id="8" name="Footer Placeholder 7">
            <a:extLst>
              <a:ext uri="{FF2B5EF4-FFF2-40B4-BE49-F238E27FC236}">
                <a16:creationId xmlns:a16="http://schemas.microsoft.com/office/drawing/2014/main" id="{E9634BA9-D73B-566D-3C99-05542498BB1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D700A5-819C-F413-8224-6E8ABDF18416}"/>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2763773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ACFE0-0037-AC4D-3EE7-F50620BF9A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4AA52B-9451-92F2-23E6-D21A898CF341}"/>
              </a:ext>
            </a:extLst>
          </p:cNvPr>
          <p:cNvSpPr>
            <a:spLocks noGrp="1"/>
          </p:cNvSpPr>
          <p:nvPr>
            <p:ph type="dt" sz="half" idx="10"/>
          </p:nvPr>
        </p:nvSpPr>
        <p:spPr/>
        <p:txBody>
          <a:bodyPr/>
          <a:lstStyle/>
          <a:p>
            <a:fld id="{FD7BB0E1-3EC7-430B-A8AE-A948CF54CE72}" type="datetimeFigureOut">
              <a:rPr lang="en-US" smtClean="0"/>
              <a:t>2/25/2026</a:t>
            </a:fld>
            <a:endParaRPr lang="en-US"/>
          </a:p>
        </p:txBody>
      </p:sp>
      <p:sp>
        <p:nvSpPr>
          <p:cNvPr id="4" name="Footer Placeholder 3">
            <a:extLst>
              <a:ext uri="{FF2B5EF4-FFF2-40B4-BE49-F238E27FC236}">
                <a16:creationId xmlns:a16="http://schemas.microsoft.com/office/drawing/2014/main" id="{62AA9AB4-CA0C-D846-FA45-063680AC10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0EFEB5-9B38-EC7A-C598-D4DA8ECD0959}"/>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3716072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17EC86-9ED6-8A9F-280A-C3A149B698EE}"/>
              </a:ext>
            </a:extLst>
          </p:cNvPr>
          <p:cNvSpPr>
            <a:spLocks noGrp="1"/>
          </p:cNvSpPr>
          <p:nvPr>
            <p:ph type="dt" sz="half" idx="10"/>
          </p:nvPr>
        </p:nvSpPr>
        <p:spPr/>
        <p:txBody>
          <a:bodyPr/>
          <a:lstStyle/>
          <a:p>
            <a:fld id="{FD7BB0E1-3EC7-430B-A8AE-A948CF54CE72}" type="datetimeFigureOut">
              <a:rPr lang="en-US" smtClean="0"/>
              <a:t>2/25/2026</a:t>
            </a:fld>
            <a:endParaRPr lang="en-US"/>
          </a:p>
        </p:txBody>
      </p:sp>
      <p:sp>
        <p:nvSpPr>
          <p:cNvPr id="3" name="Footer Placeholder 2">
            <a:extLst>
              <a:ext uri="{FF2B5EF4-FFF2-40B4-BE49-F238E27FC236}">
                <a16:creationId xmlns:a16="http://schemas.microsoft.com/office/drawing/2014/main" id="{488E54F3-6677-1D65-221E-B793269F4A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245F8F-AF9A-CD69-0ED2-A31C87D7FFBA}"/>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663871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3E656-5326-8802-BDA8-6496D055FB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B69A8D-ABD5-4461-5E46-80318910CB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97FA55-0B23-0251-F16B-A9056968B3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200B61-B5CA-0AAC-910C-FA304396FD90}"/>
              </a:ext>
            </a:extLst>
          </p:cNvPr>
          <p:cNvSpPr>
            <a:spLocks noGrp="1"/>
          </p:cNvSpPr>
          <p:nvPr>
            <p:ph type="dt" sz="half" idx="10"/>
          </p:nvPr>
        </p:nvSpPr>
        <p:spPr/>
        <p:txBody>
          <a:bodyPr/>
          <a:lstStyle/>
          <a:p>
            <a:fld id="{FD7BB0E1-3EC7-430B-A8AE-A948CF54CE72}" type="datetimeFigureOut">
              <a:rPr lang="en-US" smtClean="0"/>
              <a:t>2/25/2026</a:t>
            </a:fld>
            <a:endParaRPr lang="en-US"/>
          </a:p>
        </p:txBody>
      </p:sp>
      <p:sp>
        <p:nvSpPr>
          <p:cNvPr id="6" name="Footer Placeholder 5">
            <a:extLst>
              <a:ext uri="{FF2B5EF4-FFF2-40B4-BE49-F238E27FC236}">
                <a16:creationId xmlns:a16="http://schemas.microsoft.com/office/drawing/2014/main" id="{D8FCCCA2-899B-AE3F-EAF0-3CFBC653A9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573EF3-391D-25E5-00BD-F8EA1645BFD6}"/>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4242599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0093B-C43C-9B94-83A6-142A5D3C6A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594C8B-19FE-121A-9C67-C585F8F769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8E2A68-A3B5-231A-9518-88B53AF371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382FC3-DAF8-8433-9A56-D46BC268B567}"/>
              </a:ext>
            </a:extLst>
          </p:cNvPr>
          <p:cNvSpPr>
            <a:spLocks noGrp="1"/>
          </p:cNvSpPr>
          <p:nvPr>
            <p:ph type="dt" sz="half" idx="10"/>
          </p:nvPr>
        </p:nvSpPr>
        <p:spPr/>
        <p:txBody>
          <a:bodyPr/>
          <a:lstStyle/>
          <a:p>
            <a:fld id="{FD7BB0E1-3EC7-430B-A8AE-A948CF54CE72}" type="datetimeFigureOut">
              <a:rPr lang="en-US" smtClean="0"/>
              <a:t>2/25/2026</a:t>
            </a:fld>
            <a:endParaRPr lang="en-US"/>
          </a:p>
        </p:txBody>
      </p:sp>
      <p:sp>
        <p:nvSpPr>
          <p:cNvPr id="6" name="Footer Placeholder 5">
            <a:extLst>
              <a:ext uri="{FF2B5EF4-FFF2-40B4-BE49-F238E27FC236}">
                <a16:creationId xmlns:a16="http://schemas.microsoft.com/office/drawing/2014/main" id="{F6D974BB-4784-DF43-0AC7-4E65D40249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211347-1CA5-57A5-447F-962C4573085F}"/>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1006689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9BA0-5DC9-972E-957B-CAD8332A7C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762FAB-573A-6AD4-7E35-453F793C6F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33D1A5-41F5-10B0-616F-F43305A1A145}"/>
              </a:ext>
            </a:extLst>
          </p:cNvPr>
          <p:cNvSpPr>
            <a:spLocks noGrp="1"/>
          </p:cNvSpPr>
          <p:nvPr>
            <p:ph type="dt" sz="half" idx="10"/>
          </p:nvPr>
        </p:nvSpPr>
        <p:spPr/>
        <p:txBody>
          <a:bodyPr/>
          <a:lstStyle/>
          <a:p>
            <a:fld id="{FD7BB0E1-3EC7-430B-A8AE-A948CF54CE72}" type="datetimeFigureOut">
              <a:rPr lang="en-US" smtClean="0"/>
              <a:t>2/25/2026</a:t>
            </a:fld>
            <a:endParaRPr lang="en-US"/>
          </a:p>
        </p:txBody>
      </p:sp>
      <p:sp>
        <p:nvSpPr>
          <p:cNvPr id="5" name="Footer Placeholder 4">
            <a:extLst>
              <a:ext uri="{FF2B5EF4-FFF2-40B4-BE49-F238E27FC236}">
                <a16:creationId xmlns:a16="http://schemas.microsoft.com/office/drawing/2014/main" id="{623F1CAE-A0AA-B0D7-EA54-B78039B091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569292-4B69-6C0B-166D-7059445C088D}"/>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155710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D17E1F-1258-2D06-62E8-91FCF82A5C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5BAC44-CB91-F5BA-0885-038F7F57FD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FF65C2-8B25-E602-8A22-A5E3200F617A}"/>
              </a:ext>
            </a:extLst>
          </p:cNvPr>
          <p:cNvSpPr>
            <a:spLocks noGrp="1"/>
          </p:cNvSpPr>
          <p:nvPr>
            <p:ph type="dt" sz="half" idx="10"/>
          </p:nvPr>
        </p:nvSpPr>
        <p:spPr/>
        <p:txBody>
          <a:bodyPr/>
          <a:lstStyle/>
          <a:p>
            <a:fld id="{FD7BB0E1-3EC7-430B-A8AE-A948CF54CE72}" type="datetimeFigureOut">
              <a:rPr lang="en-US" smtClean="0"/>
              <a:t>2/25/2026</a:t>
            </a:fld>
            <a:endParaRPr lang="en-US"/>
          </a:p>
        </p:txBody>
      </p:sp>
      <p:sp>
        <p:nvSpPr>
          <p:cNvPr id="5" name="Footer Placeholder 4">
            <a:extLst>
              <a:ext uri="{FF2B5EF4-FFF2-40B4-BE49-F238E27FC236}">
                <a16:creationId xmlns:a16="http://schemas.microsoft.com/office/drawing/2014/main" id="{9D2D4DA6-B555-711F-04C4-0DC64DEA86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6EC5B3-5921-2ED4-5DF6-49438BF880A7}"/>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4196535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EA1423-2613-0A98-4180-2BF058054A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1AD305-BCFC-EA82-C849-A051B167B8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5B405D-B349-F9D8-53D4-42B606619A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7BB0E1-3EC7-430B-A8AE-A948CF54CE72}" type="datetimeFigureOut">
              <a:rPr lang="en-US" smtClean="0"/>
              <a:t>2/25/2026</a:t>
            </a:fld>
            <a:endParaRPr lang="en-US"/>
          </a:p>
        </p:txBody>
      </p:sp>
      <p:sp>
        <p:nvSpPr>
          <p:cNvPr id="5" name="Footer Placeholder 4">
            <a:extLst>
              <a:ext uri="{FF2B5EF4-FFF2-40B4-BE49-F238E27FC236}">
                <a16:creationId xmlns:a16="http://schemas.microsoft.com/office/drawing/2014/main" id="{9DB24900-4C35-AECE-C320-7B38FCA7FD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5548A6-BD07-163E-0BDB-68CAD4D9BD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B996DB-23E7-4B36-B6C2-C7AA1F16B5B0}" type="slidenum">
              <a:rPr lang="en-US" smtClean="0"/>
              <a:t>‹#›</a:t>
            </a:fld>
            <a:endParaRPr lang="en-US"/>
          </a:p>
        </p:txBody>
      </p:sp>
    </p:spTree>
    <p:extLst>
      <p:ext uri="{BB962C8B-B14F-4D97-AF65-F5344CB8AC3E}">
        <p14:creationId xmlns:p14="http://schemas.microsoft.com/office/powerpoint/2010/main" val="1149886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www.softwarequotes.com/showquotes.aspx?id=613&amp;name=Berard,Edwar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E321C-CB56-DFE9-896A-9CB0FC69E155}"/>
              </a:ext>
            </a:extLst>
          </p:cNvPr>
          <p:cNvSpPr>
            <a:spLocks noGrp="1"/>
          </p:cNvSpPr>
          <p:nvPr>
            <p:ph type="ctrTitle"/>
          </p:nvPr>
        </p:nvSpPr>
        <p:spPr/>
        <p:txBody>
          <a:bodyPr/>
          <a:lstStyle/>
          <a:p>
            <a:r>
              <a:rPr lang="en-US" dirty="0"/>
              <a:t>Introduction to SOLID </a:t>
            </a:r>
            <a:r>
              <a:rPr lang="en-US" dirty="0" err="1"/>
              <a:t>Priciples</a:t>
            </a:r>
            <a:endParaRPr lang="en-US" dirty="0"/>
          </a:p>
        </p:txBody>
      </p:sp>
      <p:sp>
        <p:nvSpPr>
          <p:cNvPr id="3" name="Subtitle 2">
            <a:extLst>
              <a:ext uri="{FF2B5EF4-FFF2-40B4-BE49-F238E27FC236}">
                <a16:creationId xmlns:a16="http://schemas.microsoft.com/office/drawing/2014/main" id="{D26BFC0F-4E01-7BBF-A7B7-4D96E1FDFF2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52189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Objectives of this session</a:t>
            </a:r>
            <a:endParaRPr lang="en-IN" dirty="0"/>
          </a:p>
        </p:txBody>
      </p:sp>
      <p:sp>
        <p:nvSpPr>
          <p:cNvPr id="4" name="Content Placeholder 3"/>
          <p:cNvSpPr>
            <a:spLocks noGrp="1"/>
          </p:cNvSpPr>
          <p:nvPr>
            <p:ph idx="1"/>
          </p:nvPr>
        </p:nvSpPr>
        <p:spPr/>
        <p:txBody>
          <a:bodyPr/>
          <a:lstStyle/>
          <a:p>
            <a:r>
              <a:rPr lang="en-US" dirty="0"/>
              <a:t>What is Object Oriented Design?</a:t>
            </a:r>
          </a:p>
          <a:p>
            <a:r>
              <a:rPr lang="en-US" dirty="0"/>
              <a:t>Why Object Oriented Design?</a:t>
            </a:r>
          </a:p>
          <a:p>
            <a:r>
              <a:rPr lang="en-US" dirty="0"/>
              <a:t>Object Oriented Design Principles.</a:t>
            </a:r>
            <a:endParaRPr lang="en-IN" dirty="0"/>
          </a:p>
        </p:txBody>
      </p:sp>
    </p:spTree>
    <p:extLst>
      <p:ext uri="{BB962C8B-B14F-4D97-AF65-F5344CB8AC3E}">
        <p14:creationId xmlns:p14="http://schemas.microsoft.com/office/powerpoint/2010/main" val="1513712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Targeted Audience Level</a:t>
            </a:r>
            <a:endParaRPr lang="en-IN" dirty="0"/>
          </a:p>
        </p:txBody>
      </p:sp>
      <p:sp>
        <p:nvSpPr>
          <p:cNvPr id="4" name="Content Placeholder 3"/>
          <p:cNvSpPr>
            <a:spLocks noGrp="1"/>
          </p:cNvSpPr>
          <p:nvPr>
            <p:ph idx="1"/>
          </p:nvPr>
        </p:nvSpPr>
        <p:spPr/>
        <p:txBody>
          <a:bodyPr/>
          <a:lstStyle/>
          <a:p>
            <a:r>
              <a:rPr lang="en-IN" dirty="0"/>
              <a:t>Who have at least a basic idea of Object oriented programming.</a:t>
            </a:r>
          </a:p>
          <a:p>
            <a:r>
              <a:rPr lang="en-IN" dirty="0"/>
              <a:t>Who can talk about the basic pillars of object oriented programming</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4711" y="3199660"/>
            <a:ext cx="7128792"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1978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 Oriented principles</a:t>
            </a:r>
            <a:endParaRPr lang="en-IN" dirty="0"/>
          </a:p>
        </p:txBody>
      </p:sp>
      <p:sp>
        <p:nvSpPr>
          <p:cNvPr id="5" name="Content Placeholder 4"/>
          <p:cNvSpPr>
            <a:spLocks noGrp="1"/>
          </p:cNvSpPr>
          <p:nvPr>
            <p:ph idx="1"/>
          </p:nvPr>
        </p:nvSpPr>
        <p:spPr/>
        <p:txBody>
          <a:bodyPr/>
          <a:lstStyle/>
          <a:p>
            <a:r>
              <a:rPr lang="en-IN" dirty="0"/>
              <a:t>Encapsulation</a:t>
            </a:r>
          </a:p>
          <a:p>
            <a:r>
              <a:rPr lang="en-IN" dirty="0"/>
              <a:t>Inheritance</a:t>
            </a:r>
          </a:p>
          <a:p>
            <a:r>
              <a:rPr lang="en-IN" dirty="0"/>
              <a:t>Polymorphism</a:t>
            </a:r>
          </a:p>
          <a:p>
            <a:r>
              <a:rPr lang="en-US" dirty="0"/>
              <a:t>Abstraction</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is Object oriented Design?</a:t>
            </a:r>
            <a:endParaRPr lang="en-IN" dirty="0"/>
          </a:p>
        </p:txBody>
      </p:sp>
      <p:sp>
        <p:nvSpPr>
          <p:cNvPr id="4" name="Content Placeholder 3"/>
          <p:cNvSpPr>
            <a:spLocks noGrp="1"/>
          </p:cNvSpPr>
          <p:nvPr>
            <p:ph idx="1"/>
          </p:nvPr>
        </p:nvSpPr>
        <p:spPr/>
        <p:txBody>
          <a:bodyPr/>
          <a:lstStyle/>
          <a:p>
            <a:r>
              <a:rPr lang="en-IN" dirty="0"/>
              <a:t>It’s a process of planning a software system where objects will interact with each other to solve specific problems. </a:t>
            </a:r>
          </a:p>
          <a:p>
            <a:r>
              <a:rPr lang="en-IN" dirty="0"/>
              <a:t>The saying goes, </a:t>
            </a:r>
          </a:p>
          <a:p>
            <a:pPr marL="0" indent="0">
              <a:buNone/>
            </a:pPr>
            <a:endParaRPr lang="en-IN" dirty="0"/>
          </a:p>
          <a:p>
            <a:pPr marL="0" indent="0">
              <a:buNone/>
            </a:pPr>
            <a:r>
              <a:rPr lang="en-IN" sz="1400" b="1" dirty="0"/>
              <a:t>"</a:t>
            </a:r>
            <a:r>
              <a:rPr lang="en-IN" sz="1400" b="1" i="1" dirty="0">
                <a:solidFill>
                  <a:srgbClr val="00B050"/>
                </a:solidFill>
              </a:rPr>
              <a:t>Proper Object oriented design makes a developer's life easy, whereas bad design makes it a disaster</a:t>
            </a:r>
            <a:r>
              <a:rPr lang="en-IN" sz="1400" b="1" dirty="0"/>
              <a:t>."</a:t>
            </a:r>
          </a:p>
        </p:txBody>
      </p:sp>
    </p:spTree>
    <p:extLst>
      <p:ext uri="{BB962C8B-B14F-4D97-AF65-F5344CB8AC3E}">
        <p14:creationId xmlns:p14="http://schemas.microsoft.com/office/powerpoint/2010/main" val="2882405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is Object oriented Design? Cont.…</a:t>
            </a:r>
            <a:endParaRPr lang="en-IN" dirty="0"/>
          </a:p>
        </p:txBody>
      </p:sp>
      <p:sp>
        <p:nvSpPr>
          <p:cNvPr id="4" name="Content Placeholder 3"/>
          <p:cNvSpPr>
            <a:spLocks noGrp="1"/>
          </p:cNvSpPr>
          <p:nvPr>
            <p:ph idx="1"/>
          </p:nvPr>
        </p:nvSpPr>
        <p:spPr/>
        <p:txBody>
          <a:bodyPr>
            <a:normAutofit lnSpcReduction="10000"/>
          </a:bodyPr>
          <a:lstStyle/>
          <a:p>
            <a:r>
              <a:rPr lang="en-IN" dirty="0"/>
              <a:t>We learnt words and how to assemble the alphabets to make those meaningful words. </a:t>
            </a:r>
          </a:p>
          <a:p>
            <a:r>
              <a:rPr lang="en-IN" dirty="0"/>
              <a:t>Along with that, you learned some basic grammar to assemble the words into sentences. </a:t>
            </a:r>
          </a:p>
          <a:p>
            <a:r>
              <a:rPr lang="en-IN" dirty="0"/>
              <a:t>For example, you had to maintain tenses, and you had to use prepositions, conjunctions, and others properly to create grammatically correct sentences. Say, a sentence like the following:</a:t>
            </a:r>
          </a:p>
          <a:p>
            <a:pPr>
              <a:buNone/>
            </a:pPr>
            <a:r>
              <a:rPr lang="en-IN" sz="1800" b="1" dirty="0">
                <a:solidFill>
                  <a:schemeClr val="accent6">
                    <a:lumMod val="75000"/>
                  </a:schemeClr>
                </a:solidFill>
              </a:rPr>
              <a:t>"I" (pronoun) "want" (Verb) "to" (Preposition) "learn" (Verb) "OOD" (Noun)</a:t>
            </a:r>
          </a:p>
          <a:p>
            <a:r>
              <a:rPr lang="en-IN" dirty="0"/>
              <a:t>You see, you are assembling the words in some order, and you are also choosing the correct words to end up with a sentence that has some meaning.</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is Object Oriented Design Principles?</a:t>
            </a:r>
            <a:endParaRPr lang="en-IN" dirty="0"/>
          </a:p>
        </p:txBody>
      </p:sp>
      <p:sp>
        <p:nvSpPr>
          <p:cNvPr id="4" name="Content Placeholder 3"/>
          <p:cNvSpPr>
            <a:spLocks noGrp="1"/>
          </p:cNvSpPr>
          <p:nvPr>
            <p:ph idx="1"/>
          </p:nvPr>
        </p:nvSpPr>
        <p:spPr/>
        <p:txBody>
          <a:bodyPr>
            <a:normAutofit fontScale="85000" lnSpcReduction="10000"/>
          </a:bodyPr>
          <a:lstStyle/>
          <a:p>
            <a:r>
              <a:rPr lang="en-IN" dirty="0"/>
              <a:t>This is analogous to Object Oriented Principles. </a:t>
            </a:r>
          </a:p>
          <a:p>
            <a:r>
              <a:rPr lang="en-IN" dirty="0"/>
              <a:t>OOP says about the basic principles and the core ideas to do Object Oriented programming. </a:t>
            </a:r>
          </a:p>
          <a:p>
            <a:r>
              <a:rPr lang="en-IN" dirty="0"/>
              <a:t>Here, OOP can be compared to the basic English grammar, where the basic grammar teaches you how to construct a meaningful and correct sentence using words, and OOP teaches you to construct classes, encapsulate properties and methods inside them, and also develop a hierarchy between them and use them in your code.</a:t>
            </a:r>
          </a:p>
          <a:p>
            <a:r>
              <a:rPr lang="en-IN" dirty="0"/>
              <a:t>Now, suppose you need to write articles and essays on some topics. You may also wish to write books on different subjects that you have expertise on. Knowing how to construct sentences is not enough to write good essays/articles or books, right? You need to write a lot, and need to learn to explain things in a good way so that readers can easily understand what you are trying to say.</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is Object Oriented Design Principles? Cont..</a:t>
            </a:r>
            <a:endParaRPr lang="en-IN" dirty="0"/>
          </a:p>
        </p:txBody>
      </p:sp>
      <p:sp>
        <p:nvSpPr>
          <p:cNvPr id="4" name="Content Placeholder 3"/>
          <p:cNvSpPr>
            <a:spLocks noGrp="1"/>
          </p:cNvSpPr>
          <p:nvPr>
            <p:ph idx="1"/>
          </p:nvPr>
        </p:nvSpPr>
        <p:spPr/>
        <p:txBody>
          <a:bodyPr/>
          <a:lstStyle/>
          <a:p>
            <a:r>
              <a:rPr lang="en-IN" dirty="0"/>
              <a:t>In software development, OOD addresses the bigger picture. </a:t>
            </a:r>
          </a:p>
          <a:p>
            <a:r>
              <a:rPr lang="en-IN" dirty="0"/>
              <a:t>You need to design your software in a way that your classes and code are</a:t>
            </a:r>
          </a:p>
          <a:p>
            <a:pPr lvl="1"/>
            <a:r>
              <a:rPr lang="en-IN" dirty="0"/>
              <a:t> modularized</a:t>
            </a:r>
          </a:p>
          <a:p>
            <a:pPr lvl="1"/>
            <a:r>
              <a:rPr lang="en-IN" dirty="0"/>
              <a:t> re-usable</a:t>
            </a:r>
          </a:p>
          <a:p>
            <a:pPr lvl="1"/>
            <a:r>
              <a:rPr lang="en-IN" dirty="0"/>
              <a:t> flexible </a:t>
            </a:r>
          </a:p>
          <a:p>
            <a:r>
              <a:rPr lang="en-IN" dirty="0"/>
              <a:t> There are some good guidelines to do that so that you don't have to re-invent the wheel. </a:t>
            </a:r>
          </a:p>
          <a:p>
            <a:r>
              <a:rPr lang="en-IN" dirty="0"/>
              <a:t>There are some design principles that you can apply to design your classes and objects. </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Is OOP and OOD are they same?</a:t>
            </a:r>
            <a:endParaRPr lang="en-IN" dirty="0"/>
          </a:p>
        </p:txBody>
      </p:sp>
      <p:sp>
        <p:nvSpPr>
          <p:cNvPr id="4" name="Content Placeholder 3"/>
          <p:cNvSpPr>
            <a:spLocks noGrp="1"/>
          </p:cNvSpPr>
          <p:nvPr>
            <p:ph idx="1"/>
          </p:nvPr>
        </p:nvSpPr>
        <p:spPr/>
        <p:txBody>
          <a:bodyPr/>
          <a:lstStyle/>
          <a:p>
            <a:r>
              <a:rPr lang="en-IN" dirty="0"/>
              <a:t>Object Oriented Principles and Object Oriented Design are actually two different things.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19537" y="332657"/>
            <a:ext cx="6507747" cy="420521"/>
          </a:xfrm>
        </p:spPr>
        <p:txBody>
          <a:bodyPr>
            <a:normAutofit fontScale="90000"/>
          </a:bodyPr>
          <a:lstStyle/>
          <a:p>
            <a:r>
              <a:rPr lang="en-IN" dirty="0"/>
              <a:t>Why Object Oriented Design?</a:t>
            </a:r>
            <a:br>
              <a:rPr lang="en-IN" dirty="0"/>
            </a:br>
            <a:endParaRPr lang="en-IN" dirty="0"/>
          </a:p>
        </p:txBody>
      </p:sp>
      <p:sp>
        <p:nvSpPr>
          <p:cNvPr id="4" name="Content Placeholder 3"/>
          <p:cNvSpPr>
            <a:spLocks noGrp="1"/>
          </p:cNvSpPr>
          <p:nvPr>
            <p:ph idx="1"/>
          </p:nvPr>
        </p:nvSpPr>
        <p:spPr/>
        <p:txBody>
          <a:bodyPr/>
          <a:lstStyle/>
          <a:p>
            <a:r>
              <a:rPr lang="en-IN" dirty="0"/>
              <a:t>Why should we care about Object Oriented Design when we can create some classes quickly and finish development and deliver? Isn't that enough?</a:t>
            </a:r>
          </a:p>
          <a:p>
            <a:pPr>
              <a:buNone/>
            </a:pPr>
            <a:r>
              <a:rPr lang="en-IN" sz="3200" b="1" dirty="0">
                <a:solidFill>
                  <a:srgbClr val="FFC000"/>
                </a:solidFill>
              </a:rPr>
              <a:t>"Walking on water and developing software from a specification are easy if both are frozen."</a:t>
            </a:r>
          </a:p>
          <a:p>
            <a:pPr>
              <a:buNone/>
            </a:pPr>
            <a:r>
              <a:rPr lang="en-IN" dirty="0"/>
              <a:t>- </a:t>
            </a:r>
            <a:r>
              <a:rPr lang="en-IN" i="1" dirty="0">
                <a:hlinkClick r:id="rId2"/>
              </a:rPr>
              <a:t>Edward V.</a:t>
            </a:r>
            <a:r>
              <a:rPr lang="en-IN" i="1" dirty="0"/>
              <a:t> </a:t>
            </a:r>
            <a:r>
              <a:rPr lang="en-IN" i="1" dirty="0" err="1">
                <a:hlinkClick r:id="rId2"/>
              </a:rPr>
              <a:t>Berard</a:t>
            </a:r>
            <a:endParaRPr lang="en-IN" dirty="0"/>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Why Object Oriented Design? Cont..</a:t>
            </a:r>
            <a:br>
              <a:rPr lang="en-IN" dirty="0"/>
            </a:br>
            <a:endParaRPr lang="en-IN" dirty="0"/>
          </a:p>
        </p:txBody>
      </p:sp>
      <p:sp>
        <p:nvSpPr>
          <p:cNvPr id="4" name="Content Placeholder 3"/>
          <p:cNvSpPr>
            <a:spLocks noGrp="1"/>
          </p:cNvSpPr>
          <p:nvPr>
            <p:ph idx="1"/>
          </p:nvPr>
        </p:nvSpPr>
        <p:spPr/>
        <p:txBody>
          <a:bodyPr>
            <a:normAutofit fontScale="85000" lnSpcReduction="20000"/>
          </a:bodyPr>
          <a:lstStyle/>
          <a:p>
            <a:r>
              <a:rPr lang="en-IN" dirty="0"/>
              <a:t> The universal truth of software is </a:t>
            </a:r>
            <a:r>
              <a:rPr lang="en-IN" dirty="0">
                <a:solidFill>
                  <a:srgbClr val="00B050"/>
                </a:solidFill>
              </a:rPr>
              <a:t>"your software is bound to change". </a:t>
            </a:r>
          </a:p>
          <a:p>
            <a:r>
              <a:rPr lang="en-IN" dirty="0"/>
              <a:t>Because, your software solves real life business problems and real life business processes evolve and change - always.</a:t>
            </a:r>
          </a:p>
          <a:p>
            <a:r>
              <a:rPr lang="en-IN" dirty="0"/>
              <a:t>Your software does what it is supposed to do today and does it good enough. But, is your software smart enough to support "changes"? </a:t>
            </a:r>
          </a:p>
          <a:p>
            <a:r>
              <a:rPr lang="en-IN" dirty="0"/>
              <a:t>If not, you don't have a </a:t>
            </a:r>
            <a:r>
              <a:rPr lang="en-IN" dirty="0">
                <a:solidFill>
                  <a:srgbClr val="00B050"/>
                </a:solidFill>
              </a:rPr>
              <a:t>smartly designed software</a:t>
            </a:r>
            <a:r>
              <a:rPr lang="en-IN" dirty="0"/>
              <a:t>.</a:t>
            </a:r>
          </a:p>
          <a:p>
            <a:r>
              <a:rPr lang="en-IN" dirty="0"/>
              <a:t> </a:t>
            </a:r>
            <a:r>
              <a:rPr lang="en-IN" dirty="0">
                <a:solidFill>
                  <a:srgbClr val="00B050"/>
                </a:solidFill>
              </a:rPr>
              <a:t>“A smartly designed software can </a:t>
            </a:r>
          </a:p>
          <a:p>
            <a:pPr>
              <a:buNone/>
            </a:pPr>
            <a:r>
              <a:rPr lang="en-IN" dirty="0">
                <a:solidFill>
                  <a:srgbClr val="FF66FF"/>
                </a:solidFill>
              </a:rPr>
              <a:t>         adjust changes easily,</a:t>
            </a:r>
          </a:p>
          <a:p>
            <a:pPr>
              <a:buNone/>
            </a:pPr>
            <a:r>
              <a:rPr lang="en-IN" dirty="0">
                <a:solidFill>
                  <a:srgbClr val="FF66FF"/>
                </a:solidFill>
              </a:rPr>
              <a:t>         it can be extended, </a:t>
            </a:r>
          </a:p>
          <a:p>
            <a:pPr>
              <a:buNone/>
            </a:pPr>
            <a:r>
              <a:rPr lang="en-IN" dirty="0">
                <a:solidFill>
                  <a:srgbClr val="FF66FF"/>
                </a:solidFill>
              </a:rPr>
              <a:t>         and it is re-usable.</a:t>
            </a:r>
            <a:r>
              <a:rPr lang="en-IN" dirty="0">
                <a:solidFill>
                  <a:srgbClr val="00B050"/>
                </a:solidFill>
              </a:rPr>
              <a:t>”</a:t>
            </a:r>
          </a:p>
          <a:p>
            <a:r>
              <a:rPr lang="en-IN" dirty="0"/>
              <a:t>Applying a good "</a:t>
            </a:r>
            <a:r>
              <a:rPr lang="en-IN" dirty="0">
                <a:solidFill>
                  <a:srgbClr val="00B050"/>
                </a:solidFill>
              </a:rPr>
              <a:t>Object Oriented Design</a:t>
            </a:r>
            <a:r>
              <a:rPr lang="en-IN" dirty="0"/>
              <a:t>" is the key to achieve such a </a:t>
            </a:r>
            <a:r>
              <a:rPr lang="en-IN" dirty="0">
                <a:solidFill>
                  <a:srgbClr val="FF66FF"/>
                </a:solidFill>
              </a:rPr>
              <a:t>smart design</a:t>
            </a: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Why Object Oriented Design? Cont..</a:t>
            </a:r>
          </a:p>
        </p:txBody>
      </p:sp>
      <p:sp>
        <p:nvSpPr>
          <p:cNvPr id="4" name="Content Placeholder 3"/>
          <p:cNvSpPr>
            <a:spLocks noGrp="1"/>
          </p:cNvSpPr>
          <p:nvPr>
            <p:ph idx="1"/>
          </p:nvPr>
        </p:nvSpPr>
        <p:spPr/>
        <p:txBody>
          <a:bodyPr/>
          <a:lstStyle/>
          <a:p>
            <a:r>
              <a:rPr lang="en-IN" dirty="0"/>
              <a:t>You are doing Object Oriented Design if your code is:</a:t>
            </a:r>
          </a:p>
          <a:p>
            <a:pPr lvl="1"/>
            <a:r>
              <a:rPr lang="en-IN" dirty="0"/>
              <a:t>Of course, object oriented.</a:t>
            </a:r>
          </a:p>
          <a:p>
            <a:pPr lvl="1"/>
            <a:r>
              <a:rPr lang="en-IN" dirty="0"/>
              <a:t>Re-usable.</a:t>
            </a:r>
          </a:p>
          <a:p>
            <a:pPr lvl="1"/>
            <a:r>
              <a:rPr lang="en-IN" dirty="0"/>
              <a:t>Can be changed with minimal effort.</a:t>
            </a:r>
          </a:p>
          <a:p>
            <a:pPr lvl="1"/>
            <a:r>
              <a:rPr lang="en-IN" dirty="0"/>
              <a:t>Can be extended without changing existing code.</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Object Oriented Design Principles</a:t>
            </a:r>
            <a:endParaRPr lang="en-IN" dirty="0"/>
          </a:p>
        </p:txBody>
      </p:sp>
      <p:sp>
        <p:nvSpPr>
          <p:cNvPr id="4" name="Content Placeholder 3"/>
          <p:cNvSpPr>
            <a:spLocks noGrp="1"/>
          </p:cNvSpPr>
          <p:nvPr>
            <p:ph idx="1"/>
          </p:nvPr>
        </p:nvSpPr>
        <p:spPr/>
        <p:txBody>
          <a:bodyPr/>
          <a:lstStyle/>
          <a:p>
            <a:r>
              <a:rPr lang="en-IN" dirty="0"/>
              <a:t>S = Single Responsibility Principle</a:t>
            </a:r>
          </a:p>
          <a:p>
            <a:r>
              <a:rPr lang="en-IN" dirty="0"/>
              <a:t>O = Opened Closed Principle </a:t>
            </a:r>
          </a:p>
          <a:p>
            <a:r>
              <a:rPr lang="en-IN" dirty="0"/>
              <a:t>L = Liscov Substitution Principle</a:t>
            </a:r>
          </a:p>
          <a:p>
            <a:r>
              <a:rPr lang="en-IN" dirty="0"/>
              <a:t>I = Interface Segregation Principle</a:t>
            </a:r>
          </a:p>
          <a:p>
            <a:r>
              <a:rPr lang="en-IN" dirty="0"/>
              <a:t>D = Dependency Inversion Principle</a:t>
            </a:r>
          </a:p>
          <a:p>
            <a:pPr marL="0" indent="0">
              <a:buNone/>
            </a:pPr>
            <a:endParaRPr lang="en-US" dirty="0"/>
          </a:p>
          <a:p>
            <a:pPr marL="0" indent="0">
              <a:buNone/>
            </a:pPr>
            <a:endParaRPr lang="en-US" dirty="0"/>
          </a:p>
          <a:p>
            <a:pPr marL="0" indent="0">
              <a:buNone/>
            </a:pPr>
            <a:r>
              <a:rPr lang="en-IN" dirty="0"/>
              <a:t> </a:t>
            </a:r>
            <a:r>
              <a:rPr lang="en-IN" sz="1600" b="1" i="1" dirty="0">
                <a:solidFill>
                  <a:srgbClr val="00B050"/>
                </a:solidFill>
              </a:rPr>
              <a:t>These 5 principles were introduced by Mr. Robert Martin (commonly known as Uncle Bob)</a:t>
            </a: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Single Responsibility Principle</a:t>
            </a:r>
          </a:p>
        </p:txBody>
      </p:sp>
      <p:pic>
        <p:nvPicPr>
          <p:cNvPr id="7" name="Content Placeholder 6"/>
          <p:cNvPicPr>
            <a:picLocks noGrp="1"/>
          </p:cNvPicPr>
          <p:nvPr>
            <p:ph idx="1"/>
          </p:nvPr>
        </p:nvPicPr>
        <p:blipFill>
          <a:blip r:embed="rId2" cstate="print"/>
          <a:stretch>
            <a:fillRect/>
          </a:stretch>
        </p:blipFill>
        <p:spPr bwMode="auto">
          <a:xfrm>
            <a:off x="5447928" y="836713"/>
            <a:ext cx="5048250" cy="3724275"/>
          </a:xfrm>
          <a:prstGeom prst="rect">
            <a:avLst/>
          </a:prstGeom>
          <a:noFill/>
          <a:ln w="9525">
            <a:noFill/>
            <a:miter lim="800000"/>
            <a:headEnd/>
            <a:tailEnd/>
          </a:ln>
        </p:spPr>
      </p:pic>
      <p:sp>
        <p:nvSpPr>
          <p:cNvPr id="8" name="TextBox 7"/>
          <p:cNvSpPr txBox="1"/>
          <p:nvPr/>
        </p:nvSpPr>
        <p:spPr>
          <a:xfrm>
            <a:off x="1919536" y="980728"/>
            <a:ext cx="3312368" cy="1477328"/>
          </a:xfrm>
          <a:prstGeom prst="rect">
            <a:avLst/>
          </a:prstGeom>
          <a:noFill/>
        </p:spPr>
        <p:txBody>
          <a:bodyPr wrap="square" rtlCol="0">
            <a:spAutoFit/>
          </a:bodyPr>
          <a:lstStyle/>
          <a:p>
            <a:r>
              <a:rPr lang="en-IN" dirty="0"/>
              <a:t>"just because you can implement all the features in a single device, you shouldn't". Why? Because it adds a lot of manageability problems for you in the long run.</a:t>
            </a:r>
          </a:p>
        </p:txBody>
      </p:sp>
      <p:sp>
        <p:nvSpPr>
          <p:cNvPr id="9" name="TextBox 8"/>
          <p:cNvSpPr txBox="1"/>
          <p:nvPr/>
        </p:nvSpPr>
        <p:spPr>
          <a:xfrm>
            <a:off x="1991544" y="2924945"/>
            <a:ext cx="3240360" cy="2031325"/>
          </a:xfrm>
          <a:prstGeom prst="rect">
            <a:avLst/>
          </a:prstGeom>
          <a:noFill/>
        </p:spPr>
        <p:txBody>
          <a:bodyPr wrap="square" rtlCol="0">
            <a:spAutoFit/>
          </a:bodyPr>
          <a:lstStyle/>
          <a:p>
            <a:r>
              <a:rPr lang="en-IN" dirty="0">
                <a:solidFill>
                  <a:schemeClr val="accent6">
                    <a:lumMod val="50000"/>
                  </a:schemeClr>
                </a:solidFill>
              </a:rPr>
              <a:t>"</a:t>
            </a:r>
            <a:r>
              <a:rPr lang="en-IN" b="1" dirty="0">
                <a:solidFill>
                  <a:schemeClr val="accent6">
                    <a:lumMod val="50000"/>
                  </a:schemeClr>
                </a:solidFill>
              </a:rPr>
              <a:t>There should never be more than one reason for a class to change.</a:t>
            </a:r>
            <a:r>
              <a:rPr lang="en-IN" dirty="0">
                <a:solidFill>
                  <a:schemeClr val="accent6">
                    <a:lumMod val="50000"/>
                  </a:schemeClr>
                </a:solidFill>
              </a:rPr>
              <a:t>"</a:t>
            </a:r>
          </a:p>
          <a:p>
            <a:r>
              <a:rPr lang="en-IN" dirty="0"/>
              <a:t>Or, differently said: </a:t>
            </a:r>
            <a:r>
              <a:rPr lang="en-IN" dirty="0">
                <a:solidFill>
                  <a:schemeClr val="accent6">
                    <a:lumMod val="75000"/>
                  </a:schemeClr>
                </a:solidFill>
              </a:rPr>
              <a:t>"A class should have one and only one responsibility".</a:t>
            </a:r>
          </a:p>
          <a:p>
            <a:endParaRPr lang="en-IN" dirty="0"/>
          </a:p>
        </p:txBody>
      </p:sp>
      <p:sp>
        <p:nvSpPr>
          <p:cNvPr id="10" name="TextBox 9"/>
          <p:cNvSpPr txBox="1"/>
          <p:nvPr/>
        </p:nvSpPr>
        <p:spPr>
          <a:xfrm>
            <a:off x="2063552" y="4869160"/>
            <a:ext cx="8424936" cy="1754326"/>
          </a:xfrm>
          <a:prstGeom prst="rect">
            <a:avLst/>
          </a:prstGeom>
          <a:noFill/>
        </p:spPr>
        <p:txBody>
          <a:bodyPr wrap="square" rtlCol="0">
            <a:spAutoFit/>
          </a:bodyPr>
          <a:lstStyle/>
          <a:p>
            <a:r>
              <a:rPr lang="en-IN" dirty="0"/>
              <a:t>* This principle says that if you have a class that has more than one reason to change (or has more than one overall responsibility), you need to split the class into multiple classes based upon their responsibility.</a:t>
            </a:r>
          </a:p>
          <a:p>
            <a:pPr lvl="0"/>
            <a:r>
              <a:rPr lang="en-IN" dirty="0"/>
              <a:t>*  Code becomes coupled if classes have more than one responsibility.</a:t>
            </a:r>
          </a:p>
          <a:p>
            <a:endParaRPr lang="en-IN" dirty="0"/>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Class hierarchy showing violation of SRP principle</a:t>
            </a:r>
          </a:p>
        </p:txBody>
      </p:sp>
      <p:pic>
        <p:nvPicPr>
          <p:cNvPr id="5" name="Content Placeholder 4"/>
          <p:cNvPicPr>
            <a:picLocks noGrp="1"/>
          </p:cNvPicPr>
          <p:nvPr>
            <p:ph idx="1"/>
          </p:nvPr>
        </p:nvPicPr>
        <p:blipFill>
          <a:blip r:embed="rId2" cstate="print"/>
          <a:srcRect/>
          <a:stretch>
            <a:fillRect/>
          </a:stretch>
        </p:blipFill>
        <p:spPr bwMode="auto">
          <a:xfrm>
            <a:off x="5663953" y="836712"/>
            <a:ext cx="4752975" cy="2343150"/>
          </a:xfrm>
          <a:prstGeom prst="rect">
            <a:avLst/>
          </a:prstGeom>
          <a:noFill/>
          <a:ln w="9525">
            <a:noFill/>
            <a:miter lim="800000"/>
            <a:headEnd/>
            <a:tailEnd/>
          </a:ln>
        </p:spPr>
      </p:pic>
      <p:sp>
        <p:nvSpPr>
          <p:cNvPr id="6" name="TextBox 5"/>
          <p:cNvSpPr txBox="1"/>
          <p:nvPr/>
        </p:nvSpPr>
        <p:spPr>
          <a:xfrm>
            <a:off x="1847528" y="1052736"/>
            <a:ext cx="4032448" cy="3416320"/>
          </a:xfrm>
          <a:prstGeom prst="rect">
            <a:avLst/>
          </a:prstGeom>
          <a:noFill/>
        </p:spPr>
        <p:txBody>
          <a:bodyPr wrap="square" rtlCol="0">
            <a:spAutoFit/>
          </a:bodyPr>
          <a:lstStyle/>
          <a:p>
            <a:r>
              <a:rPr lang="en-IN" dirty="0"/>
              <a:t>Here, the Rectangle class does the following:</a:t>
            </a:r>
          </a:p>
          <a:p>
            <a:pPr lvl="0"/>
            <a:r>
              <a:rPr lang="en-IN" dirty="0">
                <a:solidFill>
                  <a:schemeClr val="tx2">
                    <a:lumMod val="60000"/>
                    <a:lumOff val="40000"/>
                  </a:schemeClr>
                </a:solidFill>
              </a:rPr>
              <a:t>1. It calculates the value of the     rectangular area.</a:t>
            </a:r>
          </a:p>
          <a:p>
            <a:pPr lvl="0"/>
            <a:r>
              <a:rPr lang="en-IN" dirty="0">
                <a:solidFill>
                  <a:srgbClr val="FF66FF"/>
                </a:solidFill>
              </a:rPr>
              <a:t>2. It renders the rectangle in the UI.</a:t>
            </a:r>
          </a:p>
          <a:p>
            <a:r>
              <a:rPr lang="en-IN" dirty="0"/>
              <a:t>And, two applications are using this Rectangle class:</a:t>
            </a:r>
          </a:p>
          <a:p>
            <a:pPr lvl="0"/>
            <a:r>
              <a:rPr lang="en-IN" dirty="0">
                <a:solidFill>
                  <a:srgbClr val="00B0F0"/>
                </a:solidFill>
              </a:rPr>
              <a:t>1. A computational geometry application uses this class to calculate the area.</a:t>
            </a:r>
          </a:p>
          <a:p>
            <a:pPr lvl="0"/>
            <a:r>
              <a:rPr lang="en-IN" dirty="0">
                <a:solidFill>
                  <a:srgbClr val="FF66FF"/>
                </a:solidFill>
              </a:rPr>
              <a:t>2. A graphical application uses this class to draw a rectangle in the UI</a:t>
            </a:r>
          </a:p>
          <a:p>
            <a:endParaRPr lang="en-IN" dirty="0"/>
          </a:p>
        </p:txBody>
      </p:sp>
      <p:sp>
        <p:nvSpPr>
          <p:cNvPr id="7" name="TextBox 6"/>
          <p:cNvSpPr txBox="1"/>
          <p:nvPr/>
        </p:nvSpPr>
        <p:spPr>
          <a:xfrm>
            <a:off x="1991544" y="4509120"/>
            <a:ext cx="8208912" cy="1477328"/>
          </a:xfrm>
          <a:prstGeom prst="rect">
            <a:avLst/>
          </a:prstGeom>
          <a:noFill/>
        </p:spPr>
        <p:txBody>
          <a:bodyPr wrap="square" rtlCol="0">
            <a:spAutoFit/>
          </a:bodyPr>
          <a:lstStyle/>
          <a:p>
            <a:r>
              <a:rPr lang="en-IN" dirty="0"/>
              <a:t>Separate the responsibilities into two different classes, such as:</a:t>
            </a:r>
          </a:p>
          <a:p>
            <a:pPr lvl="0"/>
            <a:r>
              <a:rPr lang="en-IN" dirty="0">
                <a:solidFill>
                  <a:srgbClr val="00B050"/>
                </a:solidFill>
              </a:rPr>
              <a:t>Rectangle:</a:t>
            </a:r>
            <a:r>
              <a:rPr lang="en-IN" dirty="0"/>
              <a:t> </a:t>
            </a:r>
            <a:r>
              <a:rPr lang="en-IN" dirty="0">
                <a:solidFill>
                  <a:srgbClr val="00B0F0"/>
                </a:solidFill>
              </a:rPr>
              <a:t>This class should define the area() method.</a:t>
            </a:r>
          </a:p>
          <a:p>
            <a:pPr lvl="0"/>
            <a:r>
              <a:rPr lang="en-IN" dirty="0">
                <a:solidFill>
                  <a:srgbClr val="00B050"/>
                </a:solidFill>
              </a:rPr>
              <a:t>RectangleUI: </a:t>
            </a:r>
            <a:r>
              <a:rPr lang="en-IN" dirty="0">
                <a:solidFill>
                  <a:srgbClr val="FF66FF"/>
                </a:solidFill>
              </a:rPr>
              <a:t>This class should inherit the Rectangle class and define the Draw() method.</a:t>
            </a: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Advantages of SRP</a:t>
            </a:r>
            <a:endParaRPr lang="en-IN" dirty="0"/>
          </a:p>
        </p:txBody>
      </p:sp>
      <p:sp>
        <p:nvSpPr>
          <p:cNvPr id="4" name="Content Placeholder 3"/>
          <p:cNvSpPr>
            <a:spLocks noGrp="1"/>
          </p:cNvSpPr>
          <p:nvPr>
            <p:ph idx="1"/>
          </p:nvPr>
        </p:nvSpPr>
        <p:spPr/>
        <p:txBody>
          <a:bodyPr/>
          <a:lstStyle/>
          <a:p>
            <a:r>
              <a:rPr lang="en-IN" dirty="0"/>
              <a:t>   Decoupled code leading to more code reuse</a:t>
            </a:r>
          </a:p>
          <a:p>
            <a:r>
              <a:rPr lang="en-IN" dirty="0"/>
              <a:t>    Smaller and clearer defined unit tests</a:t>
            </a:r>
          </a:p>
          <a:p>
            <a:r>
              <a:rPr lang="en-IN" dirty="0"/>
              <a:t>    Maintenance is easier to understand</a:t>
            </a:r>
          </a:p>
          <a:p>
            <a:r>
              <a:rPr lang="en-IN" dirty="0"/>
              <a:t>    Product evolvement is cleaner</a:t>
            </a:r>
          </a:p>
          <a:p>
            <a:r>
              <a:rPr lang="en-IN" dirty="0"/>
              <a:t>    Code readability is improved</a:t>
            </a:r>
          </a:p>
          <a:p>
            <a:endParaRPr lang="en-IN" dirty="0"/>
          </a:p>
        </p:txBody>
      </p:sp>
    </p:spTree>
    <p:extLst>
      <p:ext uri="{BB962C8B-B14F-4D97-AF65-F5344CB8AC3E}">
        <p14:creationId xmlns:p14="http://schemas.microsoft.com/office/powerpoint/2010/main" val="2568317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Open Closed Principle</a:t>
            </a:r>
            <a:endParaRPr lang="en-IN" dirty="0"/>
          </a:p>
        </p:txBody>
      </p:sp>
      <p:sp>
        <p:nvSpPr>
          <p:cNvPr id="4" name="Content Placeholder 3"/>
          <p:cNvSpPr>
            <a:spLocks noGrp="1"/>
          </p:cNvSpPr>
          <p:nvPr>
            <p:ph idx="1"/>
          </p:nvPr>
        </p:nvSpPr>
        <p:spPr/>
        <p:txBody>
          <a:bodyPr/>
          <a:lstStyle/>
          <a:p>
            <a:r>
              <a:rPr lang="en-IN" dirty="0"/>
              <a:t>"</a:t>
            </a:r>
            <a:r>
              <a:rPr lang="en-IN" b="1" dirty="0"/>
              <a:t>Software entities (classes, modules, functions, etc.) should be open for extension, but closed for modification.</a:t>
            </a:r>
            <a:r>
              <a:rPr lang="en-IN" dirty="0"/>
              <a:t>"</a:t>
            </a:r>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874254" y="344184"/>
            <a:ext cx="6507747" cy="420521"/>
          </a:xfrm>
        </p:spPr>
        <p:txBody>
          <a:bodyPr>
            <a:normAutofit fontScale="90000"/>
          </a:bodyPr>
          <a:lstStyle/>
          <a:p>
            <a:r>
              <a:rPr lang="en-IN" dirty="0"/>
              <a:t>Class hierarchy showing violation of Open Closed principle</a:t>
            </a:r>
            <a:br>
              <a:rPr lang="en-IN" dirty="0"/>
            </a:br>
            <a:endParaRPr lang="en-IN" dirty="0"/>
          </a:p>
        </p:txBody>
      </p:sp>
      <p:pic>
        <p:nvPicPr>
          <p:cNvPr id="5" name="Content Placeholder 4"/>
          <p:cNvPicPr>
            <a:picLocks noGrp="1"/>
          </p:cNvPicPr>
          <p:nvPr>
            <p:ph idx="1"/>
          </p:nvPr>
        </p:nvPicPr>
        <p:blipFill>
          <a:blip r:embed="rId2" cstate="print"/>
          <a:srcRect/>
          <a:stretch>
            <a:fillRect/>
          </a:stretch>
        </p:blipFill>
        <p:spPr bwMode="auto">
          <a:xfrm>
            <a:off x="1775521" y="908721"/>
            <a:ext cx="4067175" cy="1381125"/>
          </a:xfrm>
          <a:prstGeom prst="rect">
            <a:avLst/>
          </a:prstGeom>
          <a:noFill/>
          <a:ln w="9525">
            <a:noFill/>
            <a:miter lim="800000"/>
            <a:headEnd/>
            <a:tailEnd/>
          </a:ln>
        </p:spPr>
      </p:pic>
      <p:sp>
        <p:nvSpPr>
          <p:cNvPr id="6" name="TextBox 5"/>
          <p:cNvSpPr txBox="1"/>
          <p:nvPr/>
        </p:nvSpPr>
        <p:spPr>
          <a:xfrm>
            <a:off x="5879976" y="1052736"/>
            <a:ext cx="4320480" cy="1754326"/>
          </a:xfrm>
          <a:prstGeom prst="rect">
            <a:avLst/>
          </a:prstGeom>
          <a:noFill/>
        </p:spPr>
        <p:txBody>
          <a:bodyPr wrap="square" rtlCol="0">
            <a:spAutoFit/>
          </a:bodyPr>
          <a:lstStyle/>
          <a:p>
            <a:r>
              <a:rPr lang="en-IN" dirty="0"/>
              <a:t>The Client and Server classes are both concrete. </a:t>
            </a:r>
          </a:p>
          <a:p>
            <a:r>
              <a:rPr lang="en-IN" dirty="0"/>
              <a:t>So, if for any reason, the server implementation is changed, the client also needs a change.</a:t>
            </a:r>
          </a:p>
          <a:p>
            <a:endParaRPr lang="en-IN" dirty="0"/>
          </a:p>
        </p:txBody>
      </p:sp>
      <p:pic>
        <p:nvPicPr>
          <p:cNvPr id="7" name="Picture 6"/>
          <p:cNvPicPr/>
          <p:nvPr/>
        </p:nvPicPr>
        <p:blipFill>
          <a:blip r:embed="rId3" cstate="print"/>
          <a:srcRect/>
          <a:stretch>
            <a:fillRect/>
          </a:stretch>
        </p:blipFill>
        <p:spPr bwMode="auto">
          <a:xfrm>
            <a:off x="1775520" y="2348880"/>
            <a:ext cx="3744416" cy="2232248"/>
          </a:xfrm>
          <a:prstGeom prst="rect">
            <a:avLst/>
          </a:prstGeom>
          <a:noFill/>
          <a:ln w="9525">
            <a:noFill/>
            <a:miter lim="800000"/>
            <a:headEnd/>
            <a:tailEnd/>
          </a:ln>
        </p:spPr>
      </p:pic>
      <p:sp>
        <p:nvSpPr>
          <p:cNvPr id="8" name="TextBox 7"/>
          <p:cNvSpPr txBox="1"/>
          <p:nvPr/>
        </p:nvSpPr>
        <p:spPr>
          <a:xfrm>
            <a:off x="5735960" y="2708921"/>
            <a:ext cx="4752528" cy="3139321"/>
          </a:xfrm>
          <a:prstGeom prst="rect">
            <a:avLst/>
          </a:prstGeom>
          <a:noFill/>
        </p:spPr>
        <p:txBody>
          <a:bodyPr wrap="square" rtlCol="0">
            <a:spAutoFit/>
          </a:bodyPr>
          <a:lstStyle/>
          <a:p>
            <a:r>
              <a:rPr lang="en-IN" dirty="0"/>
              <a:t>There is an Abstract Server class added, and the client holds a reference to the abstract class, and the Concrete Server class implements the Abstract Server class.</a:t>
            </a:r>
          </a:p>
          <a:p>
            <a:r>
              <a:rPr lang="en-IN" dirty="0"/>
              <a:t> So, if for any reason the Server implementation is changed, the Client is not likely to require any change.</a:t>
            </a:r>
          </a:p>
          <a:p>
            <a:r>
              <a:rPr lang="en-IN" dirty="0"/>
              <a:t>The Abstract Server class here is closed for modification, and the concrete class implementations here are </a:t>
            </a:r>
            <a:r>
              <a:rPr lang="en-IN" b="1" dirty="0"/>
              <a:t>open</a:t>
            </a:r>
            <a:r>
              <a:rPr lang="en-IN" dirty="0"/>
              <a:t> for extension.</a:t>
            </a:r>
          </a:p>
          <a:p>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576" y="1196752"/>
            <a:ext cx="7620012" cy="410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2"/>
          <p:cNvSpPr txBox="1">
            <a:spLocks/>
          </p:cNvSpPr>
          <p:nvPr/>
        </p:nvSpPr>
        <p:spPr>
          <a:xfrm>
            <a:off x="2009607" y="108585"/>
            <a:ext cx="6507747" cy="420521"/>
          </a:xfrm>
          <a:prstGeom prst="rect">
            <a:avLst/>
          </a:prstGeom>
        </p:spPr>
        <p:txBody>
          <a:bodyPr vert="horz" lIns="91440" tIns="45720" rIns="91440" bIns="45720" rtlCol="0" anchor="ctr">
            <a:noAutofit/>
          </a:bodyPr>
          <a:lstStyle>
            <a:lvl1pPr algn="l" defTabSz="457200" rtl="0" eaLnBrk="1" latinLnBrk="0" hangingPunct="1">
              <a:spcBef>
                <a:spcPct val="0"/>
              </a:spcBef>
              <a:buNone/>
              <a:defRPr sz="2200" b="1" kern="1200" cap="small">
                <a:solidFill>
                  <a:srgbClr val="C30000"/>
                </a:solidFill>
                <a:latin typeface="Cambria"/>
                <a:ea typeface="+mj-ea"/>
                <a:cs typeface="Cambria"/>
              </a:defRPr>
            </a:lvl1pPr>
          </a:lstStyle>
          <a:p>
            <a:r>
              <a:rPr lang="en-US" dirty="0"/>
              <a:t>Open Closed Principle - Example</a:t>
            </a:r>
            <a:endParaRPr lang="en-IN" dirty="0"/>
          </a:p>
        </p:txBody>
      </p:sp>
    </p:spTree>
    <p:extLst>
      <p:ext uri="{BB962C8B-B14F-4D97-AF65-F5344CB8AC3E}">
        <p14:creationId xmlns:p14="http://schemas.microsoft.com/office/powerpoint/2010/main" val="704320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544" y="980728"/>
            <a:ext cx="8136904"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2"/>
          <p:cNvSpPr txBox="1">
            <a:spLocks/>
          </p:cNvSpPr>
          <p:nvPr/>
        </p:nvSpPr>
        <p:spPr>
          <a:xfrm>
            <a:off x="2009607" y="108585"/>
            <a:ext cx="6507747" cy="420521"/>
          </a:xfrm>
          <a:prstGeom prst="rect">
            <a:avLst/>
          </a:prstGeom>
        </p:spPr>
        <p:txBody>
          <a:bodyPr vert="horz" lIns="91440" tIns="45720" rIns="91440" bIns="45720" rtlCol="0" anchor="ctr">
            <a:noAutofit/>
          </a:bodyPr>
          <a:lstStyle>
            <a:lvl1pPr algn="l" defTabSz="457200" rtl="0" eaLnBrk="1" latinLnBrk="0" hangingPunct="1">
              <a:spcBef>
                <a:spcPct val="0"/>
              </a:spcBef>
              <a:buNone/>
              <a:defRPr sz="2200" b="1" kern="1200" cap="small">
                <a:solidFill>
                  <a:srgbClr val="C30000"/>
                </a:solidFill>
                <a:latin typeface="Cambria"/>
                <a:ea typeface="+mj-ea"/>
                <a:cs typeface="Cambria"/>
              </a:defRPr>
            </a:lvl1pPr>
          </a:lstStyle>
          <a:p>
            <a:r>
              <a:rPr lang="en-US" dirty="0"/>
              <a:t>Open Closed Principle - Example</a:t>
            </a:r>
            <a:endParaRPr lang="en-IN" dirty="0"/>
          </a:p>
        </p:txBody>
      </p:sp>
    </p:spTree>
    <p:extLst>
      <p:ext uri="{BB962C8B-B14F-4D97-AF65-F5344CB8AC3E}">
        <p14:creationId xmlns:p14="http://schemas.microsoft.com/office/powerpoint/2010/main" val="1801288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Open Closed principle – Bad Example</a:t>
            </a:r>
          </a:p>
        </p:txBody>
      </p:sp>
      <p:sp>
        <p:nvSpPr>
          <p:cNvPr id="4" name="Content Placeholder 3"/>
          <p:cNvSpPr>
            <a:spLocks noGrp="1"/>
          </p:cNvSpPr>
          <p:nvPr>
            <p:ph idx="1"/>
          </p:nvPr>
        </p:nvSpPr>
        <p:spPr/>
        <p:txBody>
          <a:bodyPr>
            <a:normAutofit fontScale="47500" lnSpcReduction="20000"/>
          </a:bodyPr>
          <a:lstStyle/>
          <a:p>
            <a:r>
              <a:rPr lang="en-IN" dirty="0"/>
              <a:t>// Open-Close Principle - Bad example</a:t>
            </a:r>
            <a:br>
              <a:rPr lang="en-IN" dirty="0"/>
            </a:br>
            <a:r>
              <a:rPr lang="en-IN" dirty="0"/>
              <a:t>class </a:t>
            </a:r>
            <a:r>
              <a:rPr lang="en-IN" dirty="0" err="1"/>
              <a:t>GraphicEditor</a:t>
            </a:r>
            <a:r>
              <a:rPr lang="en-IN" dirty="0"/>
              <a:t> {</a:t>
            </a:r>
            <a:br>
              <a:rPr lang="en-IN" dirty="0"/>
            </a:br>
            <a:br>
              <a:rPr lang="en-IN" dirty="0"/>
            </a:br>
            <a:r>
              <a:rPr lang="en-IN" dirty="0"/>
              <a:t>public void </a:t>
            </a:r>
            <a:r>
              <a:rPr lang="en-IN" dirty="0" err="1"/>
              <a:t>drawShape</a:t>
            </a:r>
            <a:r>
              <a:rPr lang="en-IN" dirty="0"/>
              <a:t>(Shape s) {</a:t>
            </a:r>
            <a:br>
              <a:rPr lang="en-IN" dirty="0"/>
            </a:br>
            <a:r>
              <a:rPr lang="en-IN" dirty="0"/>
              <a:t>if (</a:t>
            </a:r>
            <a:r>
              <a:rPr lang="en-IN" dirty="0" err="1"/>
              <a:t>s.m_type</a:t>
            </a:r>
            <a:r>
              <a:rPr lang="en-IN" dirty="0"/>
              <a:t>==1)</a:t>
            </a:r>
            <a:br>
              <a:rPr lang="en-IN" dirty="0"/>
            </a:br>
            <a:r>
              <a:rPr lang="en-IN" dirty="0" err="1"/>
              <a:t>drawRectangle</a:t>
            </a:r>
            <a:r>
              <a:rPr lang="en-IN" dirty="0"/>
              <a:t>(s);</a:t>
            </a:r>
            <a:br>
              <a:rPr lang="en-IN" dirty="0"/>
            </a:br>
            <a:r>
              <a:rPr lang="en-IN" dirty="0"/>
              <a:t>else if (</a:t>
            </a:r>
            <a:r>
              <a:rPr lang="en-IN" dirty="0" err="1"/>
              <a:t>s.m_type</a:t>
            </a:r>
            <a:r>
              <a:rPr lang="en-IN" dirty="0"/>
              <a:t>==2)</a:t>
            </a:r>
            <a:br>
              <a:rPr lang="en-IN" dirty="0"/>
            </a:br>
            <a:r>
              <a:rPr lang="en-IN" dirty="0" err="1"/>
              <a:t>drawCircle</a:t>
            </a:r>
            <a:r>
              <a:rPr lang="en-IN" dirty="0"/>
              <a:t>(s);</a:t>
            </a:r>
            <a:br>
              <a:rPr lang="en-IN" dirty="0"/>
            </a:br>
            <a:r>
              <a:rPr lang="en-IN" dirty="0"/>
              <a:t>}</a:t>
            </a:r>
            <a:br>
              <a:rPr lang="en-IN" dirty="0"/>
            </a:br>
            <a:r>
              <a:rPr lang="en-IN" dirty="0"/>
              <a:t>public void </a:t>
            </a:r>
            <a:r>
              <a:rPr lang="en-IN" dirty="0" err="1"/>
              <a:t>drawCircle</a:t>
            </a:r>
            <a:r>
              <a:rPr lang="en-IN" dirty="0"/>
              <a:t>(Circle r) {....}</a:t>
            </a:r>
            <a:br>
              <a:rPr lang="en-IN" dirty="0"/>
            </a:br>
            <a:r>
              <a:rPr lang="en-IN" dirty="0"/>
              <a:t>public void </a:t>
            </a:r>
            <a:r>
              <a:rPr lang="en-IN" dirty="0" err="1"/>
              <a:t>drawRectangle</a:t>
            </a:r>
            <a:r>
              <a:rPr lang="en-IN" dirty="0"/>
              <a:t>(Rectangle r) {....}</a:t>
            </a:r>
            <a:br>
              <a:rPr lang="en-IN" dirty="0"/>
            </a:br>
            <a:r>
              <a:rPr lang="en-IN" dirty="0"/>
              <a:t>}</a:t>
            </a:r>
            <a:br>
              <a:rPr lang="en-IN" dirty="0"/>
            </a:br>
            <a:br>
              <a:rPr lang="en-IN" dirty="0"/>
            </a:br>
            <a:r>
              <a:rPr lang="en-IN" dirty="0"/>
              <a:t>class Shape {</a:t>
            </a:r>
            <a:br>
              <a:rPr lang="en-IN" dirty="0"/>
            </a:br>
            <a:r>
              <a:rPr lang="en-IN" dirty="0" err="1"/>
              <a:t>int</a:t>
            </a:r>
            <a:r>
              <a:rPr lang="en-IN" dirty="0"/>
              <a:t> </a:t>
            </a:r>
            <a:r>
              <a:rPr lang="en-IN" dirty="0" err="1"/>
              <a:t>m_type</a:t>
            </a:r>
            <a:r>
              <a:rPr lang="en-IN" dirty="0"/>
              <a:t>;</a:t>
            </a:r>
            <a:br>
              <a:rPr lang="en-IN" dirty="0"/>
            </a:br>
            <a:r>
              <a:rPr lang="en-IN" dirty="0"/>
              <a:t>}</a:t>
            </a:r>
            <a:br>
              <a:rPr lang="en-IN" dirty="0"/>
            </a:br>
            <a:br>
              <a:rPr lang="en-IN" dirty="0"/>
            </a:br>
            <a:r>
              <a:rPr lang="en-IN" dirty="0"/>
              <a:t>class Rectangle extends Shape {</a:t>
            </a:r>
            <a:br>
              <a:rPr lang="en-IN" dirty="0"/>
            </a:br>
            <a:r>
              <a:rPr lang="en-IN" dirty="0"/>
              <a:t>Rectangle() {</a:t>
            </a:r>
            <a:br>
              <a:rPr lang="en-IN" dirty="0"/>
            </a:br>
            <a:r>
              <a:rPr lang="en-IN" dirty="0" err="1"/>
              <a:t>super.m_type</a:t>
            </a:r>
            <a:r>
              <a:rPr lang="en-IN" dirty="0"/>
              <a:t>=1;</a:t>
            </a:r>
            <a:br>
              <a:rPr lang="en-IN" dirty="0"/>
            </a:br>
            <a:r>
              <a:rPr lang="en-IN" dirty="0"/>
              <a:t>}</a:t>
            </a:r>
            <a:br>
              <a:rPr lang="en-IN" dirty="0"/>
            </a:br>
            <a:r>
              <a:rPr lang="en-IN" dirty="0"/>
              <a:t>}</a:t>
            </a:r>
            <a:br>
              <a:rPr lang="en-IN" dirty="0"/>
            </a:br>
            <a:br>
              <a:rPr lang="en-IN" dirty="0"/>
            </a:br>
            <a:r>
              <a:rPr lang="en-IN" dirty="0"/>
              <a:t>class Circle extends Shape {</a:t>
            </a:r>
            <a:br>
              <a:rPr lang="en-IN" dirty="0"/>
            </a:br>
            <a:r>
              <a:rPr lang="en-IN" dirty="0"/>
              <a:t>Circle() {</a:t>
            </a:r>
            <a:br>
              <a:rPr lang="en-IN" dirty="0"/>
            </a:br>
            <a:r>
              <a:rPr lang="en-IN" dirty="0" err="1"/>
              <a:t>super.m_type</a:t>
            </a:r>
            <a:r>
              <a:rPr lang="en-IN" dirty="0"/>
              <a:t>=2;</a:t>
            </a:r>
            <a:br>
              <a:rPr lang="en-IN" dirty="0"/>
            </a:br>
            <a:r>
              <a:rPr lang="en-IN" dirty="0"/>
              <a:t>}</a:t>
            </a:r>
            <a:br>
              <a:rPr lang="en-IN" dirty="0"/>
            </a:br>
            <a:r>
              <a:rPr lang="en-IN" dirty="0"/>
              <a:t>} </a:t>
            </a:r>
          </a:p>
        </p:txBody>
      </p:sp>
    </p:spTree>
    <p:extLst>
      <p:ext uri="{BB962C8B-B14F-4D97-AF65-F5344CB8AC3E}">
        <p14:creationId xmlns:p14="http://schemas.microsoft.com/office/powerpoint/2010/main" val="2968595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Open-Close Principle - Good example</a:t>
            </a:r>
            <a:br>
              <a:rPr lang="en-IN" dirty="0"/>
            </a:br>
            <a:endParaRPr lang="en-IN" dirty="0"/>
          </a:p>
        </p:txBody>
      </p:sp>
      <p:sp>
        <p:nvSpPr>
          <p:cNvPr id="4" name="Content Placeholder 3"/>
          <p:cNvSpPr>
            <a:spLocks noGrp="1"/>
          </p:cNvSpPr>
          <p:nvPr>
            <p:ph idx="1"/>
          </p:nvPr>
        </p:nvSpPr>
        <p:spPr/>
        <p:txBody>
          <a:bodyPr>
            <a:normAutofit fontScale="85000" lnSpcReduction="20000"/>
          </a:bodyPr>
          <a:lstStyle/>
          <a:p>
            <a:r>
              <a:rPr lang="en-IN" dirty="0"/>
              <a:t>/ Open-Close Principle - Good example</a:t>
            </a:r>
            <a:br>
              <a:rPr lang="en-IN" dirty="0"/>
            </a:br>
            <a:r>
              <a:rPr lang="en-IN" dirty="0"/>
              <a:t>class </a:t>
            </a:r>
            <a:r>
              <a:rPr lang="en-IN" dirty="0" err="1"/>
              <a:t>GraphicEditor</a:t>
            </a:r>
            <a:r>
              <a:rPr lang="en-IN" dirty="0"/>
              <a:t> {</a:t>
            </a:r>
            <a:br>
              <a:rPr lang="en-IN" dirty="0"/>
            </a:br>
            <a:r>
              <a:rPr lang="en-IN" dirty="0"/>
              <a:t>public void </a:t>
            </a:r>
            <a:r>
              <a:rPr lang="en-IN" dirty="0" err="1"/>
              <a:t>drawShape</a:t>
            </a:r>
            <a:r>
              <a:rPr lang="en-IN" dirty="0"/>
              <a:t>(Shape s) {</a:t>
            </a:r>
            <a:br>
              <a:rPr lang="en-IN" dirty="0"/>
            </a:br>
            <a:r>
              <a:rPr lang="en-IN" dirty="0" err="1"/>
              <a:t>s.draw</a:t>
            </a:r>
            <a:r>
              <a:rPr lang="en-IN" dirty="0"/>
              <a:t>();</a:t>
            </a:r>
            <a:br>
              <a:rPr lang="en-IN" dirty="0"/>
            </a:br>
            <a:r>
              <a:rPr lang="en-IN" dirty="0"/>
              <a:t>}</a:t>
            </a:r>
            <a:br>
              <a:rPr lang="en-IN" dirty="0"/>
            </a:br>
            <a:r>
              <a:rPr lang="en-IN" dirty="0"/>
              <a:t>}</a:t>
            </a:r>
            <a:br>
              <a:rPr lang="en-IN" dirty="0"/>
            </a:br>
            <a:br>
              <a:rPr lang="en-IN" dirty="0"/>
            </a:br>
            <a:r>
              <a:rPr lang="en-IN" dirty="0"/>
              <a:t>class Shape {</a:t>
            </a:r>
            <a:br>
              <a:rPr lang="en-IN" dirty="0"/>
            </a:br>
            <a:r>
              <a:rPr lang="en-IN" dirty="0"/>
              <a:t>abstract void draw();</a:t>
            </a:r>
            <a:br>
              <a:rPr lang="en-IN" dirty="0"/>
            </a:br>
            <a:r>
              <a:rPr lang="en-IN" dirty="0"/>
              <a:t>}</a:t>
            </a:r>
            <a:br>
              <a:rPr lang="en-IN" dirty="0"/>
            </a:br>
            <a:br>
              <a:rPr lang="en-IN" dirty="0"/>
            </a:br>
            <a:r>
              <a:rPr lang="en-IN" dirty="0"/>
              <a:t>class Rectangle extends Shape {</a:t>
            </a:r>
            <a:br>
              <a:rPr lang="en-IN" dirty="0"/>
            </a:br>
            <a:r>
              <a:rPr lang="en-IN" dirty="0"/>
              <a:t>public void draw() {</a:t>
            </a:r>
            <a:br>
              <a:rPr lang="en-IN" dirty="0"/>
            </a:br>
            <a:r>
              <a:rPr lang="en-IN" dirty="0"/>
              <a:t>// draw the rectangle</a:t>
            </a:r>
            <a:br>
              <a:rPr lang="en-IN" dirty="0"/>
            </a:br>
            <a:r>
              <a:rPr lang="en-IN" dirty="0"/>
              <a:t>}</a:t>
            </a:r>
            <a:br>
              <a:rPr lang="en-IN" dirty="0"/>
            </a:br>
            <a:r>
              <a:rPr lang="en-IN" dirty="0"/>
              <a:t>}</a:t>
            </a:r>
          </a:p>
        </p:txBody>
      </p:sp>
    </p:spTree>
    <p:extLst>
      <p:ext uri="{BB962C8B-B14F-4D97-AF65-F5344CB8AC3E}">
        <p14:creationId xmlns:p14="http://schemas.microsoft.com/office/powerpoint/2010/main" val="2592644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Advantages of OCP</a:t>
            </a:r>
            <a:endParaRPr lang="en-IN" dirty="0"/>
          </a:p>
        </p:txBody>
      </p:sp>
      <p:sp>
        <p:nvSpPr>
          <p:cNvPr id="4" name="Content Placeholder 3"/>
          <p:cNvSpPr>
            <a:spLocks noGrp="1"/>
          </p:cNvSpPr>
          <p:nvPr>
            <p:ph idx="1"/>
          </p:nvPr>
        </p:nvSpPr>
        <p:spPr/>
        <p:txBody>
          <a:bodyPr/>
          <a:lstStyle/>
          <a:p>
            <a:r>
              <a:rPr lang="en-US" dirty="0"/>
              <a:t>As you add every module as a new one no need to test the core for these extensions.</a:t>
            </a:r>
          </a:p>
          <a:p>
            <a:r>
              <a:rPr lang="en-IN" dirty="0"/>
              <a:t>you will save yourself a lot of time in maintenance (since you don't need to track down broken Unit Tests because you </a:t>
            </a:r>
            <a:r>
              <a:rPr lang="en-IN" dirty="0" err="1"/>
              <a:t>did’nt</a:t>
            </a:r>
            <a:r>
              <a:rPr lang="en-IN" dirty="0"/>
              <a:t> change the functionality of a method)</a:t>
            </a:r>
          </a:p>
          <a:p>
            <a:r>
              <a:rPr lang="en-US" dirty="0"/>
              <a:t>preventing regressions.</a:t>
            </a:r>
          </a:p>
          <a:p>
            <a:r>
              <a:rPr lang="en-IN" dirty="0"/>
              <a:t>As it is preventing a changing API which is almost impossible to keep up with. If you notice, good APIs never change. They may be extended.</a:t>
            </a:r>
            <a:endParaRPr lang="en-US" dirty="0"/>
          </a:p>
          <a:p>
            <a:endParaRPr lang="en-IN" dirty="0"/>
          </a:p>
        </p:txBody>
      </p:sp>
    </p:spTree>
    <p:extLst>
      <p:ext uri="{BB962C8B-B14F-4D97-AF65-F5344CB8AC3E}">
        <p14:creationId xmlns:p14="http://schemas.microsoft.com/office/powerpoint/2010/main" val="1163308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err="1"/>
              <a:t>Liskov's</a:t>
            </a:r>
            <a:r>
              <a:rPr lang="en-IN" dirty="0"/>
              <a:t> Substitution Principle</a:t>
            </a:r>
            <a:br>
              <a:rPr lang="en-IN" dirty="0"/>
            </a:br>
            <a:endParaRPr lang="en-IN"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5879976" y="764705"/>
            <a:ext cx="4349700" cy="3529533"/>
          </a:xfrm>
          <a:prstGeom prst="rect">
            <a:avLst/>
          </a:prstGeom>
          <a:noFill/>
          <a:ln w="9525">
            <a:noFill/>
            <a:miter lim="800000"/>
            <a:headEnd/>
            <a:tailEnd/>
          </a:ln>
        </p:spPr>
      </p:pic>
      <p:sp>
        <p:nvSpPr>
          <p:cNvPr id="6" name="TextBox 5"/>
          <p:cNvSpPr txBox="1"/>
          <p:nvPr/>
        </p:nvSpPr>
        <p:spPr>
          <a:xfrm>
            <a:off x="1991544" y="908720"/>
            <a:ext cx="3816424" cy="6463308"/>
          </a:xfrm>
          <a:prstGeom prst="rect">
            <a:avLst/>
          </a:prstGeom>
          <a:noFill/>
        </p:spPr>
        <p:txBody>
          <a:bodyPr wrap="square" rtlCol="0">
            <a:spAutoFit/>
          </a:bodyPr>
          <a:lstStyle/>
          <a:p>
            <a:r>
              <a:rPr lang="en-IN" dirty="0"/>
              <a:t>"</a:t>
            </a:r>
            <a:r>
              <a:rPr lang="en-IN" b="1" dirty="0"/>
              <a:t>Subtypes must be substitutable for their base types.</a:t>
            </a:r>
            <a:r>
              <a:rPr lang="en-IN" dirty="0"/>
              <a:t>“</a:t>
            </a:r>
          </a:p>
          <a:p>
            <a:endParaRPr lang="en-IN" dirty="0"/>
          </a:p>
          <a:p>
            <a:r>
              <a:rPr lang="en-IN" dirty="0"/>
              <a:t>"Functions that use references to base classes must be able to use objects of derived classes without knowing it.“</a:t>
            </a:r>
          </a:p>
          <a:p>
            <a:endParaRPr lang="en-US" dirty="0"/>
          </a:p>
          <a:p>
            <a:r>
              <a:rPr lang="en-IN" dirty="0"/>
              <a:t>The "</a:t>
            </a:r>
            <a:r>
              <a:rPr lang="en-IN" dirty="0" err="1"/>
              <a:t>Liskov's</a:t>
            </a:r>
            <a:r>
              <a:rPr lang="en-IN" dirty="0"/>
              <a:t> Substitution Principle" is just a way of ensuring that inheritance is used correctly.</a:t>
            </a:r>
          </a:p>
          <a:p>
            <a:endParaRPr lang="en-US" dirty="0"/>
          </a:p>
          <a:p>
            <a:pPr lvl="0"/>
            <a:r>
              <a:rPr lang="en-IN" dirty="0"/>
              <a:t>If LSP is not maintained, class hierarchies would be a mess, and if a subclass instance was passed as parameter to methods, strange behaviour might occur.</a:t>
            </a:r>
          </a:p>
          <a:p>
            <a:pPr lvl="0"/>
            <a:endParaRPr lang="en-IN" dirty="0"/>
          </a:p>
          <a:p>
            <a:pPr lvl="0"/>
            <a:r>
              <a:rPr lang="en-IN" dirty="0"/>
              <a:t>If LSP is not maintained, unit tests for the base classes would never succeed for the subclass.</a:t>
            </a:r>
          </a:p>
          <a:p>
            <a:endParaRPr lang="en-IN" dirty="0"/>
          </a:p>
          <a:p>
            <a:endParaRPr lang="en-IN" dirty="0"/>
          </a:p>
          <a:p>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Advantages of LSP</a:t>
            </a:r>
            <a:endParaRPr lang="en-IN" dirty="0"/>
          </a:p>
        </p:txBody>
      </p:sp>
      <p:sp>
        <p:nvSpPr>
          <p:cNvPr id="4" name="Content Placeholder 3"/>
          <p:cNvSpPr>
            <a:spLocks noGrp="1"/>
          </p:cNvSpPr>
          <p:nvPr>
            <p:ph idx="1"/>
          </p:nvPr>
        </p:nvSpPr>
        <p:spPr/>
        <p:txBody>
          <a:bodyPr/>
          <a:lstStyle/>
          <a:p>
            <a:r>
              <a:rPr lang="en-IN" dirty="0"/>
              <a:t>Really shines when applied along with the Open/Closed principle. </a:t>
            </a:r>
          </a:p>
          <a:p>
            <a:r>
              <a:rPr lang="en-IN" dirty="0"/>
              <a:t>If a class is extended into multiple sub-classes, you can still use the same code you used with the main class with these new classes. </a:t>
            </a:r>
          </a:p>
          <a:p>
            <a:r>
              <a:rPr lang="en-IN" dirty="0"/>
              <a:t>This way you </a:t>
            </a:r>
            <a:r>
              <a:rPr lang="en-IN" dirty="0">
                <a:solidFill>
                  <a:srgbClr val="00B050"/>
                </a:solidFill>
              </a:rPr>
              <a:t>prevent dependencies </a:t>
            </a:r>
            <a:r>
              <a:rPr lang="en-IN" dirty="0"/>
              <a:t>and increase the </a:t>
            </a:r>
            <a:r>
              <a:rPr lang="en-IN" dirty="0">
                <a:solidFill>
                  <a:srgbClr val="00B050"/>
                </a:solidFill>
              </a:rPr>
              <a:t>ability to re-use code</a:t>
            </a:r>
            <a:r>
              <a:rPr lang="en-IN" dirty="0"/>
              <a:t>.</a:t>
            </a:r>
          </a:p>
        </p:txBody>
      </p:sp>
    </p:spTree>
    <p:extLst>
      <p:ext uri="{BB962C8B-B14F-4D97-AF65-F5344CB8AC3E}">
        <p14:creationId xmlns:p14="http://schemas.microsoft.com/office/powerpoint/2010/main" val="20469367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The Interface Segregation Principle</a:t>
            </a:r>
          </a:p>
        </p:txBody>
      </p:sp>
      <p:sp>
        <p:nvSpPr>
          <p:cNvPr id="4" name="Content Placeholder 3"/>
          <p:cNvSpPr>
            <a:spLocks noGrp="1"/>
          </p:cNvSpPr>
          <p:nvPr>
            <p:ph idx="1"/>
          </p:nvPr>
        </p:nvSpPr>
        <p:spPr/>
        <p:txBody>
          <a:bodyPr/>
          <a:lstStyle/>
          <a:p>
            <a:r>
              <a:rPr lang="en-IN" dirty="0"/>
              <a:t>"</a:t>
            </a:r>
            <a:r>
              <a:rPr lang="en-IN" b="1" dirty="0"/>
              <a:t>Clients should not be forced to depend upon interfaces that they do not use.</a:t>
            </a:r>
            <a:r>
              <a:rPr lang="en-IN" dirty="0"/>
              <a:t>“</a:t>
            </a:r>
          </a:p>
          <a:p>
            <a:r>
              <a:rPr lang="en-IN" dirty="0"/>
              <a:t>The Interface Segregation principle ensures that Interfaces are developed so that each of them have their own responsibility and thus they are specific, easily understandable, and re-usable.</a:t>
            </a:r>
          </a:p>
          <a:p>
            <a:endParaRPr lang="en-IN" dirty="0"/>
          </a:p>
          <a:p>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7074794" y="2636912"/>
            <a:ext cx="3593207" cy="3686348"/>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Advantages of ISP</a:t>
            </a:r>
            <a:endParaRPr lang="en-IN" dirty="0"/>
          </a:p>
        </p:txBody>
      </p:sp>
      <p:sp>
        <p:nvSpPr>
          <p:cNvPr id="4" name="Content Placeholder 3"/>
          <p:cNvSpPr>
            <a:spLocks noGrp="1"/>
          </p:cNvSpPr>
          <p:nvPr>
            <p:ph idx="1"/>
          </p:nvPr>
        </p:nvSpPr>
        <p:spPr/>
        <p:txBody>
          <a:bodyPr>
            <a:normAutofit lnSpcReduction="10000"/>
          </a:bodyPr>
          <a:lstStyle/>
          <a:p>
            <a:r>
              <a:rPr lang="en-IN" dirty="0"/>
              <a:t>This principle is important because it encourages two very important ingredients of a good software design</a:t>
            </a:r>
          </a:p>
          <a:p>
            <a:endParaRPr lang="en-IN" dirty="0"/>
          </a:p>
          <a:p>
            <a:r>
              <a:rPr lang="en-IN" dirty="0"/>
              <a:t>High cohesion – Keep all related methods together</a:t>
            </a:r>
          </a:p>
          <a:p>
            <a:endParaRPr lang="en-IN" dirty="0"/>
          </a:p>
          <a:p>
            <a:r>
              <a:rPr lang="en-IN" dirty="0"/>
              <a:t>Low coupling  – Keep dependence of one another to the bare minimum</a:t>
            </a:r>
          </a:p>
          <a:p>
            <a:endParaRPr lang="en-IN" dirty="0"/>
          </a:p>
          <a:p>
            <a:r>
              <a:rPr lang="en-IN" dirty="0"/>
              <a:t>Changes to fat interfaces tend to cause a ripple affect to classes who shouldn’t have been affected in the first place.</a:t>
            </a:r>
          </a:p>
        </p:txBody>
      </p:sp>
    </p:spTree>
    <p:extLst>
      <p:ext uri="{BB962C8B-B14F-4D97-AF65-F5344CB8AC3E}">
        <p14:creationId xmlns:p14="http://schemas.microsoft.com/office/powerpoint/2010/main" val="6437304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The Dependency Inversion Principle</a:t>
            </a:r>
          </a:p>
        </p:txBody>
      </p:sp>
      <p:sp>
        <p:nvSpPr>
          <p:cNvPr id="6" name="Content Placeholder 5"/>
          <p:cNvSpPr>
            <a:spLocks noGrp="1"/>
          </p:cNvSpPr>
          <p:nvPr>
            <p:ph idx="1"/>
          </p:nvPr>
        </p:nvSpPr>
        <p:spPr/>
        <p:txBody>
          <a:bodyPr/>
          <a:lstStyle/>
          <a:p>
            <a:r>
              <a:rPr lang="en-IN" dirty="0"/>
              <a:t>"</a:t>
            </a:r>
            <a:r>
              <a:rPr lang="en-IN" b="1" dirty="0"/>
              <a:t>High level modules should not depend upon low level modules. Rather, both should depend upon abstractions.</a:t>
            </a:r>
            <a:r>
              <a:rPr lang="en-IN" dirty="0"/>
              <a:t>"</a:t>
            </a:r>
          </a:p>
          <a:p>
            <a:r>
              <a:rPr lang="en-IN" dirty="0"/>
              <a:t>"Abstraction" is the key for "pluggable nature" </a:t>
            </a:r>
          </a:p>
          <a:p>
            <a:r>
              <a:rPr lang="en-IN" dirty="0"/>
              <a:t>So, if Dependency Inversion is not implemented in the code, we run the risk of:</a:t>
            </a:r>
          </a:p>
          <a:p>
            <a:pPr lvl="0"/>
            <a:r>
              <a:rPr lang="en-IN" dirty="0"/>
              <a:t>Damaging the higher level code that uses the lower level classes.</a:t>
            </a:r>
          </a:p>
          <a:p>
            <a:pPr lvl="0"/>
            <a:r>
              <a:rPr lang="en-IN" dirty="0"/>
              <a:t>Requiring too much time and effort to change the higher level code when a change occurs in the lower level classes.</a:t>
            </a:r>
          </a:p>
          <a:p>
            <a:pPr lvl="0"/>
            <a:r>
              <a:rPr lang="en-IN" dirty="0"/>
              <a:t>Producing less-reusable code.</a:t>
            </a:r>
          </a:p>
          <a:p>
            <a:endParaRPr lang="en-IN" dirty="0"/>
          </a:p>
        </p:txBody>
      </p:sp>
      <p:pic>
        <p:nvPicPr>
          <p:cNvPr id="8" name="Content Placeholder 4"/>
          <p:cNvPicPr>
            <a:picLocks/>
          </p:cNvPicPr>
          <p:nvPr/>
        </p:nvPicPr>
        <p:blipFill>
          <a:blip r:embed="rId2" cstate="print"/>
          <a:srcRect/>
          <a:stretch>
            <a:fillRect/>
          </a:stretch>
        </p:blipFill>
        <p:spPr bwMode="auto">
          <a:xfrm>
            <a:off x="6816080" y="3356993"/>
            <a:ext cx="3600400" cy="3224411"/>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Advantages of DIP</a:t>
            </a:r>
            <a:endParaRPr lang="en-IN" dirty="0"/>
          </a:p>
        </p:txBody>
      </p:sp>
      <p:sp>
        <p:nvSpPr>
          <p:cNvPr id="4" name="Content Placeholder 3"/>
          <p:cNvSpPr>
            <a:spLocks noGrp="1"/>
          </p:cNvSpPr>
          <p:nvPr>
            <p:ph idx="1"/>
          </p:nvPr>
        </p:nvSpPr>
        <p:spPr/>
        <p:txBody>
          <a:bodyPr>
            <a:normAutofit fontScale="92500" lnSpcReduction="10000"/>
          </a:bodyPr>
          <a:lstStyle/>
          <a:p>
            <a:endParaRPr lang="en-IN" dirty="0"/>
          </a:p>
          <a:p>
            <a:r>
              <a:rPr lang="en-IN" dirty="0"/>
              <a:t>There is no coupling between the three layers.</a:t>
            </a:r>
          </a:p>
          <a:p>
            <a:r>
              <a:rPr lang="en-IN" dirty="0"/>
              <a:t>Each layer's implementation does not even need to include the header files for other layers.</a:t>
            </a:r>
          </a:p>
          <a:p>
            <a:r>
              <a:rPr lang="en-IN" dirty="0"/>
              <a:t>You have flexibility in mixing and matching different layers. You could use the physical layer implementation with a different datalink layer. This can be accomplished without writing a single line of code in the physical layer class.</a:t>
            </a:r>
          </a:p>
          <a:p>
            <a:r>
              <a:rPr lang="en-IN" dirty="0"/>
              <a:t>You can sandwich layers between two layers. For example, you can add a debugging layer between physical and datalink layers. This layer could trap messages between the two layers.</a:t>
            </a:r>
          </a:p>
          <a:p>
            <a:pPr marL="0" indent="0">
              <a:buNone/>
            </a:pPr>
            <a:endParaRPr lang="en-IN" dirty="0"/>
          </a:p>
        </p:txBody>
      </p:sp>
    </p:spTree>
    <p:extLst>
      <p:ext uri="{BB962C8B-B14F-4D97-AF65-F5344CB8AC3E}">
        <p14:creationId xmlns:p14="http://schemas.microsoft.com/office/powerpoint/2010/main" val="1389574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2855640" y="2132856"/>
            <a:ext cx="6400800" cy="1752600"/>
          </a:xfrm>
        </p:spPr>
        <p:txBody>
          <a:bodyPr>
            <a:normAutofit/>
          </a:bodyPr>
          <a:lstStyle/>
          <a:p>
            <a:r>
              <a:rPr lang="en-US" sz="4800" dirty="0"/>
              <a:t>Questions?</a:t>
            </a:r>
            <a:endParaRPr lang="en-IN" sz="4800" dirty="0"/>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1945</Words>
  <Application>Microsoft Office PowerPoint</Application>
  <PresentationFormat>Widescreen</PresentationFormat>
  <Paragraphs>149</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Office Theme</vt:lpstr>
      <vt:lpstr>Introduction to SOLID Priciples</vt:lpstr>
      <vt:lpstr>Objectives of this session</vt:lpstr>
      <vt:lpstr>Targeted Audience Level</vt:lpstr>
      <vt:lpstr>Object Oriented principles</vt:lpstr>
      <vt:lpstr>What is Object oriented Design?</vt:lpstr>
      <vt:lpstr>What is Object oriented Design? Cont.…</vt:lpstr>
      <vt:lpstr>What is Object Oriented Design Principles?</vt:lpstr>
      <vt:lpstr>What is Object Oriented Design Principles? Cont..</vt:lpstr>
      <vt:lpstr>Is OOP and OOD are they same?</vt:lpstr>
      <vt:lpstr>Why Object Oriented Design? </vt:lpstr>
      <vt:lpstr>Why Object Oriented Design? Cont.. </vt:lpstr>
      <vt:lpstr>Why Object Oriented Design? Cont..</vt:lpstr>
      <vt:lpstr>Object Oriented Design Principles</vt:lpstr>
      <vt:lpstr>Single Responsibility Principle</vt:lpstr>
      <vt:lpstr>Class hierarchy showing violation of SRP principle</vt:lpstr>
      <vt:lpstr>Advantages of SRP</vt:lpstr>
      <vt:lpstr>Open Closed Principle</vt:lpstr>
      <vt:lpstr>Class hierarchy showing violation of Open Closed principle </vt:lpstr>
      <vt:lpstr>PowerPoint Presentation</vt:lpstr>
      <vt:lpstr>PowerPoint Presentation</vt:lpstr>
      <vt:lpstr>Open Closed principle – Bad Example</vt:lpstr>
      <vt:lpstr>Open-Close Principle - Good example </vt:lpstr>
      <vt:lpstr>Advantages of OCP</vt:lpstr>
      <vt:lpstr>Liskov's Substitution Principle </vt:lpstr>
      <vt:lpstr>Advantages of LSP</vt:lpstr>
      <vt:lpstr>The Interface Segregation Principle</vt:lpstr>
      <vt:lpstr>Advantages of ISP</vt:lpstr>
      <vt:lpstr>The Dependency Inversion Principle</vt:lpstr>
      <vt:lpstr>Advantages of DIP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Ponnieaswari MS</dc:creator>
  <cp:lastModifiedBy>Ponnieaswari MS</cp:lastModifiedBy>
  <cp:revision>1</cp:revision>
  <dcterms:created xsi:type="dcterms:W3CDTF">2026-02-25T02:35:58Z</dcterms:created>
  <dcterms:modified xsi:type="dcterms:W3CDTF">2026-02-25T02:36:28Z</dcterms:modified>
</cp:coreProperties>
</file>