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A32DA1-9386-4326-BAF2-2DD6363CF1B4}" v="83" dt="2026-01-19T07:58:59.8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C13731-7835-44F9-A024-4BEF5FBA4F66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2B2AF94-D782-419C-9773-7AF6AA4E642D}">
      <dgm:prSet/>
      <dgm:spPr/>
      <dgm:t>
        <a:bodyPr/>
        <a:lstStyle/>
        <a:p>
          <a:r>
            <a:rPr lang="en-US" b="1"/>
            <a:t>Dependencies are NOT created inside the class</a:t>
          </a:r>
          <a:endParaRPr lang="en-US"/>
        </a:p>
      </dgm:t>
    </dgm:pt>
    <dgm:pt modelId="{C94327A5-0822-4DCF-B65D-3D58F00BF57A}" type="parTrans" cxnId="{8AFAD4DE-35AE-497D-92DB-4164F4660423}">
      <dgm:prSet/>
      <dgm:spPr/>
      <dgm:t>
        <a:bodyPr/>
        <a:lstStyle/>
        <a:p>
          <a:endParaRPr lang="en-US"/>
        </a:p>
      </dgm:t>
    </dgm:pt>
    <dgm:pt modelId="{3387E8F2-F27B-48D3-A563-DD5A11310BFD}" type="sibTrans" cxnId="{8AFAD4DE-35AE-497D-92DB-4164F4660423}">
      <dgm:prSet/>
      <dgm:spPr/>
      <dgm:t>
        <a:bodyPr/>
        <a:lstStyle/>
        <a:p>
          <a:endParaRPr lang="en-US"/>
        </a:p>
      </dgm:t>
    </dgm:pt>
    <dgm:pt modelId="{61DB8255-F6F3-4DF5-AFD9-275E2D2F6A56}">
      <dgm:prSet/>
      <dgm:spPr/>
      <dgm:t>
        <a:bodyPr/>
        <a:lstStyle/>
        <a:p>
          <a:r>
            <a:rPr lang="en-US"/>
            <a:t>They are </a:t>
          </a:r>
          <a:r>
            <a:rPr lang="en-US" b="1"/>
            <a:t>provided from outside</a:t>
          </a:r>
          <a:r>
            <a:rPr lang="en-US"/>
            <a:t> (injected)</a:t>
          </a:r>
        </a:p>
      </dgm:t>
    </dgm:pt>
    <dgm:pt modelId="{4849CF66-E398-485D-BF03-EC1A672B1EB8}" type="parTrans" cxnId="{6B7BED02-5A93-4BF4-B499-A33E49B21456}">
      <dgm:prSet/>
      <dgm:spPr/>
      <dgm:t>
        <a:bodyPr/>
        <a:lstStyle/>
        <a:p>
          <a:endParaRPr lang="en-US"/>
        </a:p>
      </dgm:t>
    </dgm:pt>
    <dgm:pt modelId="{08D9C1A7-16CF-4276-B9E9-69DF2916D83C}" type="sibTrans" cxnId="{6B7BED02-5A93-4BF4-B499-A33E49B21456}">
      <dgm:prSet/>
      <dgm:spPr/>
      <dgm:t>
        <a:bodyPr/>
        <a:lstStyle/>
        <a:p>
          <a:endParaRPr lang="en-US"/>
        </a:p>
      </dgm:t>
    </dgm:pt>
    <dgm:pt modelId="{1458D609-A20B-4E77-837A-6928896E4820}">
      <dgm:prSet/>
      <dgm:spPr/>
      <dgm:t>
        <a:bodyPr/>
        <a:lstStyle/>
        <a:p>
          <a:r>
            <a:rPr lang="en-US"/>
            <a:t>Promotes </a:t>
          </a:r>
          <a:r>
            <a:rPr lang="en-US" b="1"/>
            <a:t>loose coupling by design</a:t>
          </a:r>
          <a:endParaRPr lang="en-US"/>
        </a:p>
      </dgm:t>
    </dgm:pt>
    <dgm:pt modelId="{5AC7C29D-622F-4559-836C-BD295CD0E41B}" type="parTrans" cxnId="{AD75867E-F45D-4C30-B8B9-C56E7C0C1EE2}">
      <dgm:prSet/>
      <dgm:spPr/>
      <dgm:t>
        <a:bodyPr/>
        <a:lstStyle/>
        <a:p>
          <a:endParaRPr lang="en-US"/>
        </a:p>
      </dgm:t>
    </dgm:pt>
    <dgm:pt modelId="{8BDDC315-5D04-42E3-B6C3-14608161BD0D}" type="sibTrans" cxnId="{AD75867E-F45D-4C30-B8B9-C56E7C0C1EE2}">
      <dgm:prSet/>
      <dgm:spPr/>
      <dgm:t>
        <a:bodyPr/>
        <a:lstStyle/>
        <a:p>
          <a:endParaRPr lang="en-US"/>
        </a:p>
      </dgm:t>
    </dgm:pt>
    <dgm:pt modelId="{5F3AE2D9-5940-461F-89D2-9E92A219EA39}">
      <dgm:prSet/>
      <dgm:spPr/>
      <dgm:t>
        <a:bodyPr/>
        <a:lstStyle/>
        <a:p>
          <a:r>
            <a:rPr lang="en-US"/>
            <a:t>Managed by a </a:t>
          </a:r>
          <a:r>
            <a:rPr lang="en-US" b="1"/>
            <a:t>DI Container</a:t>
          </a:r>
          <a:r>
            <a:rPr lang="en-US"/>
            <a:t> in modern frameworks</a:t>
          </a:r>
        </a:p>
      </dgm:t>
    </dgm:pt>
    <dgm:pt modelId="{4C4F3C9B-1742-4806-A3DC-E9B2AA6211AD}" type="parTrans" cxnId="{BA98E3E0-194E-4682-94FE-4DF49A1AEA98}">
      <dgm:prSet/>
      <dgm:spPr/>
      <dgm:t>
        <a:bodyPr/>
        <a:lstStyle/>
        <a:p>
          <a:endParaRPr lang="en-US"/>
        </a:p>
      </dgm:t>
    </dgm:pt>
    <dgm:pt modelId="{AE3469EE-162E-4EE1-B91D-D2C4A82C83B3}" type="sibTrans" cxnId="{BA98E3E0-194E-4682-94FE-4DF49A1AEA98}">
      <dgm:prSet/>
      <dgm:spPr/>
      <dgm:t>
        <a:bodyPr/>
        <a:lstStyle/>
        <a:p>
          <a:endParaRPr lang="en-US"/>
        </a:p>
      </dgm:t>
    </dgm:pt>
    <dgm:pt modelId="{883C895B-D7A1-4262-8FC3-5CE2D370DBA0}" type="pres">
      <dgm:prSet presAssocID="{D1C13731-7835-44F9-A024-4BEF5FBA4F66}" presName="diagram" presStyleCnt="0">
        <dgm:presLayoutVars>
          <dgm:dir/>
          <dgm:resizeHandles val="exact"/>
        </dgm:presLayoutVars>
      </dgm:prSet>
      <dgm:spPr/>
    </dgm:pt>
    <dgm:pt modelId="{8857F9E9-1D42-442D-A8A7-845420F56B94}" type="pres">
      <dgm:prSet presAssocID="{02B2AF94-D782-419C-9773-7AF6AA4E642D}" presName="node" presStyleLbl="node1" presStyleIdx="0" presStyleCnt="4">
        <dgm:presLayoutVars>
          <dgm:bulletEnabled val="1"/>
        </dgm:presLayoutVars>
      </dgm:prSet>
      <dgm:spPr/>
    </dgm:pt>
    <dgm:pt modelId="{BB30D89C-B9EB-48E0-8DFD-E110EC7D2F40}" type="pres">
      <dgm:prSet presAssocID="{3387E8F2-F27B-48D3-A563-DD5A11310BFD}" presName="sibTrans" presStyleLbl="sibTrans2D1" presStyleIdx="0" presStyleCnt="3"/>
      <dgm:spPr/>
    </dgm:pt>
    <dgm:pt modelId="{5D98936D-6FBA-4468-B986-79F5624A1B19}" type="pres">
      <dgm:prSet presAssocID="{3387E8F2-F27B-48D3-A563-DD5A11310BFD}" presName="connectorText" presStyleLbl="sibTrans2D1" presStyleIdx="0" presStyleCnt="3"/>
      <dgm:spPr/>
    </dgm:pt>
    <dgm:pt modelId="{3A4E20C7-7702-4EA5-BAD5-C88896350208}" type="pres">
      <dgm:prSet presAssocID="{61DB8255-F6F3-4DF5-AFD9-275E2D2F6A56}" presName="node" presStyleLbl="node1" presStyleIdx="1" presStyleCnt="4">
        <dgm:presLayoutVars>
          <dgm:bulletEnabled val="1"/>
        </dgm:presLayoutVars>
      </dgm:prSet>
      <dgm:spPr/>
    </dgm:pt>
    <dgm:pt modelId="{AF821C1A-46F4-4678-B4F8-23098A331DE9}" type="pres">
      <dgm:prSet presAssocID="{08D9C1A7-16CF-4276-B9E9-69DF2916D83C}" presName="sibTrans" presStyleLbl="sibTrans2D1" presStyleIdx="1" presStyleCnt="3"/>
      <dgm:spPr/>
    </dgm:pt>
    <dgm:pt modelId="{9A7B945F-1D12-4F74-8CE2-20E092AA454A}" type="pres">
      <dgm:prSet presAssocID="{08D9C1A7-16CF-4276-B9E9-69DF2916D83C}" presName="connectorText" presStyleLbl="sibTrans2D1" presStyleIdx="1" presStyleCnt="3"/>
      <dgm:spPr/>
    </dgm:pt>
    <dgm:pt modelId="{EB9CC53D-0C49-4637-91A8-BEC029C5ED11}" type="pres">
      <dgm:prSet presAssocID="{1458D609-A20B-4E77-837A-6928896E4820}" presName="node" presStyleLbl="node1" presStyleIdx="2" presStyleCnt="4">
        <dgm:presLayoutVars>
          <dgm:bulletEnabled val="1"/>
        </dgm:presLayoutVars>
      </dgm:prSet>
      <dgm:spPr/>
    </dgm:pt>
    <dgm:pt modelId="{69B51A9C-2FD1-488B-ABE3-2DEB2639DE64}" type="pres">
      <dgm:prSet presAssocID="{8BDDC315-5D04-42E3-B6C3-14608161BD0D}" presName="sibTrans" presStyleLbl="sibTrans2D1" presStyleIdx="2" presStyleCnt="3"/>
      <dgm:spPr/>
    </dgm:pt>
    <dgm:pt modelId="{CC27F03E-ACDB-45C6-AC75-5AF999FF0E07}" type="pres">
      <dgm:prSet presAssocID="{8BDDC315-5D04-42E3-B6C3-14608161BD0D}" presName="connectorText" presStyleLbl="sibTrans2D1" presStyleIdx="2" presStyleCnt="3"/>
      <dgm:spPr/>
    </dgm:pt>
    <dgm:pt modelId="{781C0B94-900D-402D-BBEC-8F93726F444A}" type="pres">
      <dgm:prSet presAssocID="{5F3AE2D9-5940-461F-89D2-9E92A219EA39}" presName="node" presStyleLbl="node1" presStyleIdx="3" presStyleCnt="4">
        <dgm:presLayoutVars>
          <dgm:bulletEnabled val="1"/>
        </dgm:presLayoutVars>
      </dgm:prSet>
      <dgm:spPr/>
    </dgm:pt>
  </dgm:ptLst>
  <dgm:cxnLst>
    <dgm:cxn modelId="{6B7BED02-5A93-4BF4-B499-A33E49B21456}" srcId="{D1C13731-7835-44F9-A024-4BEF5FBA4F66}" destId="{61DB8255-F6F3-4DF5-AFD9-275E2D2F6A56}" srcOrd="1" destOrd="0" parTransId="{4849CF66-E398-485D-BF03-EC1A672B1EB8}" sibTransId="{08D9C1A7-16CF-4276-B9E9-69DF2916D83C}"/>
    <dgm:cxn modelId="{35F1100E-76F9-4FE8-B079-147920A42B38}" type="presOf" srcId="{1458D609-A20B-4E77-837A-6928896E4820}" destId="{EB9CC53D-0C49-4637-91A8-BEC029C5ED11}" srcOrd="0" destOrd="0" presId="urn:microsoft.com/office/officeart/2005/8/layout/process5"/>
    <dgm:cxn modelId="{D0ADBF1A-4D19-4CF9-B87C-943333709AC1}" type="presOf" srcId="{61DB8255-F6F3-4DF5-AFD9-275E2D2F6A56}" destId="{3A4E20C7-7702-4EA5-BAD5-C88896350208}" srcOrd="0" destOrd="0" presId="urn:microsoft.com/office/officeart/2005/8/layout/process5"/>
    <dgm:cxn modelId="{DB770B31-8D77-4E94-A476-FCC8A755FFB9}" type="presOf" srcId="{8BDDC315-5D04-42E3-B6C3-14608161BD0D}" destId="{69B51A9C-2FD1-488B-ABE3-2DEB2639DE64}" srcOrd="0" destOrd="0" presId="urn:microsoft.com/office/officeart/2005/8/layout/process5"/>
    <dgm:cxn modelId="{DFD54D3C-334C-44AF-A2CB-F94D5D6F2F07}" type="presOf" srcId="{02B2AF94-D782-419C-9773-7AF6AA4E642D}" destId="{8857F9E9-1D42-442D-A8A7-845420F56B94}" srcOrd="0" destOrd="0" presId="urn:microsoft.com/office/officeart/2005/8/layout/process5"/>
    <dgm:cxn modelId="{AE0B813E-6442-4D05-A8A7-BCF404389F28}" type="presOf" srcId="{08D9C1A7-16CF-4276-B9E9-69DF2916D83C}" destId="{AF821C1A-46F4-4678-B4F8-23098A331DE9}" srcOrd="0" destOrd="0" presId="urn:microsoft.com/office/officeart/2005/8/layout/process5"/>
    <dgm:cxn modelId="{AAA3C265-B35B-4A20-A5E4-C094237FDDB8}" type="presOf" srcId="{8BDDC315-5D04-42E3-B6C3-14608161BD0D}" destId="{CC27F03E-ACDB-45C6-AC75-5AF999FF0E07}" srcOrd="1" destOrd="0" presId="urn:microsoft.com/office/officeart/2005/8/layout/process5"/>
    <dgm:cxn modelId="{4B2EED66-38AB-4266-883B-D18A1BC78D1C}" type="presOf" srcId="{08D9C1A7-16CF-4276-B9E9-69DF2916D83C}" destId="{9A7B945F-1D12-4F74-8CE2-20E092AA454A}" srcOrd="1" destOrd="0" presId="urn:microsoft.com/office/officeart/2005/8/layout/process5"/>
    <dgm:cxn modelId="{AD75867E-F45D-4C30-B8B9-C56E7C0C1EE2}" srcId="{D1C13731-7835-44F9-A024-4BEF5FBA4F66}" destId="{1458D609-A20B-4E77-837A-6928896E4820}" srcOrd="2" destOrd="0" parTransId="{5AC7C29D-622F-4559-836C-BD295CD0E41B}" sibTransId="{8BDDC315-5D04-42E3-B6C3-14608161BD0D}"/>
    <dgm:cxn modelId="{55CFF78F-506E-484A-90F0-7A3ACB4F25C7}" type="presOf" srcId="{3387E8F2-F27B-48D3-A563-DD5A11310BFD}" destId="{5D98936D-6FBA-4468-B986-79F5624A1B19}" srcOrd="1" destOrd="0" presId="urn:microsoft.com/office/officeart/2005/8/layout/process5"/>
    <dgm:cxn modelId="{0E0E7CA8-B63A-499A-8B40-97BF8F9AE83B}" type="presOf" srcId="{5F3AE2D9-5940-461F-89D2-9E92A219EA39}" destId="{781C0B94-900D-402D-BBEC-8F93726F444A}" srcOrd="0" destOrd="0" presId="urn:microsoft.com/office/officeart/2005/8/layout/process5"/>
    <dgm:cxn modelId="{260154D4-1A08-405C-BDA3-FF55C2A806A5}" type="presOf" srcId="{D1C13731-7835-44F9-A024-4BEF5FBA4F66}" destId="{883C895B-D7A1-4262-8FC3-5CE2D370DBA0}" srcOrd="0" destOrd="0" presId="urn:microsoft.com/office/officeart/2005/8/layout/process5"/>
    <dgm:cxn modelId="{8AFAD4DE-35AE-497D-92DB-4164F4660423}" srcId="{D1C13731-7835-44F9-A024-4BEF5FBA4F66}" destId="{02B2AF94-D782-419C-9773-7AF6AA4E642D}" srcOrd="0" destOrd="0" parTransId="{C94327A5-0822-4DCF-B65D-3D58F00BF57A}" sibTransId="{3387E8F2-F27B-48D3-A563-DD5A11310BFD}"/>
    <dgm:cxn modelId="{BA98E3E0-194E-4682-94FE-4DF49A1AEA98}" srcId="{D1C13731-7835-44F9-A024-4BEF5FBA4F66}" destId="{5F3AE2D9-5940-461F-89D2-9E92A219EA39}" srcOrd="3" destOrd="0" parTransId="{4C4F3C9B-1742-4806-A3DC-E9B2AA6211AD}" sibTransId="{AE3469EE-162E-4EE1-B91D-D2C4A82C83B3}"/>
    <dgm:cxn modelId="{A23430E2-569F-42C9-A4CD-5BFD991AEC04}" type="presOf" srcId="{3387E8F2-F27B-48D3-A563-DD5A11310BFD}" destId="{BB30D89C-B9EB-48E0-8DFD-E110EC7D2F40}" srcOrd="0" destOrd="0" presId="urn:microsoft.com/office/officeart/2005/8/layout/process5"/>
    <dgm:cxn modelId="{492EA935-E793-4424-833F-E55A66962187}" type="presParOf" srcId="{883C895B-D7A1-4262-8FC3-5CE2D370DBA0}" destId="{8857F9E9-1D42-442D-A8A7-845420F56B94}" srcOrd="0" destOrd="0" presId="urn:microsoft.com/office/officeart/2005/8/layout/process5"/>
    <dgm:cxn modelId="{1AEAE5D4-6932-4546-965C-182BD8E8BEC3}" type="presParOf" srcId="{883C895B-D7A1-4262-8FC3-5CE2D370DBA0}" destId="{BB30D89C-B9EB-48E0-8DFD-E110EC7D2F40}" srcOrd="1" destOrd="0" presId="urn:microsoft.com/office/officeart/2005/8/layout/process5"/>
    <dgm:cxn modelId="{E29C612F-22A8-438E-8D5C-CE38338BF332}" type="presParOf" srcId="{BB30D89C-B9EB-48E0-8DFD-E110EC7D2F40}" destId="{5D98936D-6FBA-4468-B986-79F5624A1B19}" srcOrd="0" destOrd="0" presId="urn:microsoft.com/office/officeart/2005/8/layout/process5"/>
    <dgm:cxn modelId="{5371C420-4326-46A8-B31A-5A9001EE0CBD}" type="presParOf" srcId="{883C895B-D7A1-4262-8FC3-5CE2D370DBA0}" destId="{3A4E20C7-7702-4EA5-BAD5-C88896350208}" srcOrd="2" destOrd="0" presId="urn:microsoft.com/office/officeart/2005/8/layout/process5"/>
    <dgm:cxn modelId="{B6609287-847F-40B7-A32F-92CD91A0184D}" type="presParOf" srcId="{883C895B-D7A1-4262-8FC3-5CE2D370DBA0}" destId="{AF821C1A-46F4-4678-B4F8-23098A331DE9}" srcOrd="3" destOrd="0" presId="urn:microsoft.com/office/officeart/2005/8/layout/process5"/>
    <dgm:cxn modelId="{11570898-A49D-4802-ADE8-D35EDB8106EE}" type="presParOf" srcId="{AF821C1A-46F4-4678-B4F8-23098A331DE9}" destId="{9A7B945F-1D12-4F74-8CE2-20E092AA454A}" srcOrd="0" destOrd="0" presId="urn:microsoft.com/office/officeart/2005/8/layout/process5"/>
    <dgm:cxn modelId="{7F0A6765-03D6-4F43-9E3E-1D1C145A68E8}" type="presParOf" srcId="{883C895B-D7A1-4262-8FC3-5CE2D370DBA0}" destId="{EB9CC53D-0C49-4637-91A8-BEC029C5ED11}" srcOrd="4" destOrd="0" presId="urn:microsoft.com/office/officeart/2005/8/layout/process5"/>
    <dgm:cxn modelId="{4088CB66-556D-48B0-BCA2-1CB98A928862}" type="presParOf" srcId="{883C895B-D7A1-4262-8FC3-5CE2D370DBA0}" destId="{69B51A9C-2FD1-488B-ABE3-2DEB2639DE64}" srcOrd="5" destOrd="0" presId="urn:microsoft.com/office/officeart/2005/8/layout/process5"/>
    <dgm:cxn modelId="{22E021AB-FB1C-4548-86C1-7E1936A3746E}" type="presParOf" srcId="{69B51A9C-2FD1-488B-ABE3-2DEB2639DE64}" destId="{CC27F03E-ACDB-45C6-AC75-5AF999FF0E07}" srcOrd="0" destOrd="0" presId="urn:microsoft.com/office/officeart/2005/8/layout/process5"/>
    <dgm:cxn modelId="{5841BCB0-CC2F-480D-B7C7-E7E3D506FB3A}" type="presParOf" srcId="{883C895B-D7A1-4262-8FC3-5CE2D370DBA0}" destId="{781C0B94-900D-402D-BBEC-8F93726F444A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57F9E9-1D42-442D-A8A7-845420F56B94}">
      <dsp:nvSpPr>
        <dsp:cNvPr id="0" name=""/>
        <dsp:cNvSpPr/>
      </dsp:nvSpPr>
      <dsp:spPr>
        <a:xfrm>
          <a:off x="5003" y="313138"/>
          <a:ext cx="2187857" cy="1312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Dependencies are NOT created inside the class</a:t>
          </a:r>
          <a:endParaRPr lang="en-US" sz="1900" kern="1200"/>
        </a:p>
      </dsp:txBody>
      <dsp:txXfrm>
        <a:off x="43451" y="351586"/>
        <a:ext cx="2110961" cy="1235818"/>
      </dsp:txXfrm>
    </dsp:sp>
    <dsp:sp modelId="{BB30D89C-B9EB-48E0-8DFD-E110EC7D2F40}">
      <dsp:nvSpPr>
        <dsp:cNvPr id="0" name=""/>
        <dsp:cNvSpPr/>
      </dsp:nvSpPr>
      <dsp:spPr>
        <a:xfrm>
          <a:off x="2385392" y="698201"/>
          <a:ext cx="463825" cy="5425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2385392" y="806719"/>
        <a:ext cx="324678" cy="325552"/>
      </dsp:txXfrm>
    </dsp:sp>
    <dsp:sp modelId="{3A4E20C7-7702-4EA5-BAD5-C88896350208}">
      <dsp:nvSpPr>
        <dsp:cNvPr id="0" name=""/>
        <dsp:cNvSpPr/>
      </dsp:nvSpPr>
      <dsp:spPr>
        <a:xfrm>
          <a:off x="3068004" y="313138"/>
          <a:ext cx="2187857" cy="1312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They are </a:t>
          </a:r>
          <a:r>
            <a:rPr lang="en-US" sz="1900" b="1" kern="1200"/>
            <a:t>provided from outside</a:t>
          </a:r>
          <a:r>
            <a:rPr lang="en-US" sz="1900" kern="1200"/>
            <a:t> (injected)</a:t>
          </a:r>
        </a:p>
      </dsp:txBody>
      <dsp:txXfrm>
        <a:off x="3106452" y="351586"/>
        <a:ext cx="2110961" cy="1235818"/>
      </dsp:txXfrm>
    </dsp:sp>
    <dsp:sp modelId="{AF821C1A-46F4-4678-B4F8-23098A331DE9}">
      <dsp:nvSpPr>
        <dsp:cNvPr id="0" name=""/>
        <dsp:cNvSpPr/>
      </dsp:nvSpPr>
      <dsp:spPr>
        <a:xfrm>
          <a:off x="5448393" y="698201"/>
          <a:ext cx="463825" cy="5425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5448393" y="806719"/>
        <a:ext cx="324678" cy="325552"/>
      </dsp:txXfrm>
    </dsp:sp>
    <dsp:sp modelId="{EB9CC53D-0C49-4637-91A8-BEC029C5ED11}">
      <dsp:nvSpPr>
        <dsp:cNvPr id="0" name=""/>
        <dsp:cNvSpPr/>
      </dsp:nvSpPr>
      <dsp:spPr>
        <a:xfrm>
          <a:off x="6131005" y="313138"/>
          <a:ext cx="2187857" cy="1312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Promotes </a:t>
          </a:r>
          <a:r>
            <a:rPr lang="en-US" sz="1900" b="1" kern="1200"/>
            <a:t>loose coupling by design</a:t>
          </a:r>
          <a:endParaRPr lang="en-US" sz="1900" kern="1200"/>
        </a:p>
      </dsp:txBody>
      <dsp:txXfrm>
        <a:off x="6169453" y="351586"/>
        <a:ext cx="2110961" cy="1235818"/>
      </dsp:txXfrm>
    </dsp:sp>
    <dsp:sp modelId="{69B51A9C-2FD1-488B-ABE3-2DEB2639DE64}">
      <dsp:nvSpPr>
        <dsp:cNvPr id="0" name=""/>
        <dsp:cNvSpPr/>
      </dsp:nvSpPr>
      <dsp:spPr>
        <a:xfrm>
          <a:off x="8511393" y="698201"/>
          <a:ext cx="463825" cy="5425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/>
        </a:p>
      </dsp:txBody>
      <dsp:txXfrm>
        <a:off x="8511393" y="806719"/>
        <a:ext cx="324678" cy="325552"/>
      </dsp:txXfrm>
    </dsp:sp>
    <dsp:sp modelId="{781C0B94-900D-402D-BBEC-8F93726F444A}">
      <dsp:nvSpPr>
        <dsp:cNvPr id="0" name=""/>
        <dsp:cNvSpPr/>
      </dsp:nvSpPr>
      <dsp:spPr>
        <a:xfrm>
          <a:off x="9194005" y="313138"/>
          <a:ext cx="2187857" cy="13127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Managed by a </a:t>
          </a:r>
          <a:r>
            <a:rPr lang="en-US" sz="1900" b="1" kern="1200"/>
            <a:t>DI Container</a:t>
          </a:r>
          <a:r>
            <a:rPr lang="en-US" sz="1900" kern="1200"/>
            <a:t> in modern frameworks</a:t>
          </a:r>
        </a:p>
      </dsp:txBody>
      <dsp:txXfrm>
        <a:off x="9232453" y="351586"/>
        <a:ext cx="2110961" cy="123581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tx2"/>
                </a:solidFill>
              </a:rPr>
              <a:t>Dependency Injection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endParaRPr lang="en-US" sz="2000">
              <a:solidFill>
                <a:schemeClr val="tx2"/>
              </a:solidFill>
            </a:endParaRPr>
          </a:p>
        </p:txBody>
      </p:sp>
      <p:pic>
        <p:nvPicPr>
          <p:cNvPr id="7" name="Graphic 6" descr="Needle">
            <a:extLst>
              <a:ext uri="{FF2B5EF4-FFF2-40B4-BE49-F238E27FC236}">
                <a16:creationId xmlns:a16="http://schemas.microsoft.com/office/drawing/2014/main" id="{BB2A4BD9-664E-F9AA-4522-128B27C8B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2E9579-A307-FE2F-A527-404B31ACA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918" y="643467"/>
            <a:ext cx="8346164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89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D3130-5AAA-43F8-7595-8AF83AFCC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1" y="675123"/>
            <a:ext cx="5157787" cy="421346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>
                <a:solidFill>
                  <a:schemeClr val="accent1"/>
                </a:solidFill>
                <a:ea typeface="+mn-lt"/>
                <a:cs typeface="+mn-lt"/>
              </a:rPr>
              <a:t>Strong Coupling (Soldered Lighting System)</a:t>
            </a:r>
            <a:endParaRPr lang="en-US" sz="18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879A6-D0BD-3101-7309-B7FD60259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2" y="1240244"/>
            <a:ext cx="6092314" cy="24912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>
                <a:ea typeface="+mn-lt"/>
                <a:cs typeface="+mn-lt"/>
              </a:rPr>
              <a:t>Components are </a:t>
            </a:r>
            <a:r>
              <a:rPr lang="en-US" sz="2000" b="1" dirty="0">
                <a:ea typeface="+mn-lt"/>
                <a:cs typeface="+mn-lt"/>
              </a:rPr>
              <a:t>tightly bound</a:t>
            </a:r>
            <a:r>
              <a:rPr lang="en-US" sz="2000" dirty="0">
                <a:ea typeface="+mn-lt"/>
                <a:cs typeface="+mn-lt"/>
              </a:rPr>
              <a:t> to each other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One class </a:t>
            </a:r>
            <a:r>
              <a:rPr lang="en-US" sz="2000" b="1" dirty="0">
                <a:ea typeface="+mn-lt"/>
                <a:cs typeface="+mn-lt"/>
              </a:rPr>
              <a:t>creates and controls</a:t>
            </a:r>
            <a:r>
              <a:rPr lang="en-US" sz="2000" dirty="0">
                <a:ea typeface="+mn-lt"/>
                <a:cs typeface="+mn-lt"/>
              </a:rPr>
              <a:t> its dependencies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Change in one component </a:t>
            </a:r>
            <a:r>
              <a:rPr lang="en-US" sz="2000" b="1" dirty="0">
                <a:ea typeface="+mn-lt"/>
                <a:cs typeface="+mn-lt"/>
              </a:rPr>
              <a:t>forces changes everywhere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Hard to modify, hard to test, hard to maintain</a:t>
            </a:r>
            <a:endParaRPr lang="en-US" sz="2000" dirty="0"/>
          </a:p>
          <a:p>
            <a:r>
              <a:rPr lang="en-US" sz="2000" i="1" dirty="0">
                <a:ea typeface="+mn-lt"/>
                <a:cs typeface="+mn-lt"/>
              </a:rPr>
              <a:t>Like a bulb soldered to the wire – replacement needs rewiring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68EC5D-8551-5435-7121-177DFDF9D8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0313" y="718255"/>
            <a:ext cx="5096924" cy="378214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accent1"/>
                </a:solidFill>
                <a:ea typeface="+mn-lt"/>
                <a:cs typeface="+mn-lt"/>
              </a:rPr>
              <a:t>L</a:t>
            </a:r>
            <a:r>
              <a:rPr lang="en-US" sz="1800" dirty="0">
                <a:solidFill>
                  <a:schemeClr val="accent1"/>
                </a:solidFill>
                <a:ea typeface="+mn-lt"/>
                <a:cs typeface="+mn-lt"/>
              </a:rPr>
              <a:t>oose Coupling (Plug-and-Play Lighting System)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0C17CB-AB72-AA9C-18D0-34B7B810FD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0314" y="1240244"/>
            <a:ext cx="5945187" cy="249126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>
                <a:ea typeface="+mn-lt"/>
                <a:cs typeface="+mn-lt"/>
              </a:rPr>
              <a:t>Components depend on </a:t>
            </a:r>
            <a:r>
              <a:rPr lang="en-US" sz="2000" b="1" dirty="0">
                <a:ea typeface="+mn-lt"/>
                <a:cs typeface="+mn-lt"/>
              </a:rPr>
              <a:t>abstractions (interfaces)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Dependencies can be </a:t>
            </a:r>
            <a:r>
              <a:rPr lang="en-US" sz="2000" b="1" dirty="0">
                <a:ea typeface="+mn-lt"/>
                <a:cs typeface="+mn-lt"/>
              </a:rPr>
              <a:t>easily replaced or upgraded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Changes are </a:t>
            </a:r>
            <a:r>
              <a:rPr lang="en-US" sz="2000" b="1" dirty="0">
                <a:ea typeface="+mn-lt"/>
                <a:cs typeface="+mn-lt"/>
              </a:rPr>
              <a:t>isolated and safe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ea typeface="+mn-lt"/>
                <a:cs typeface="+mn-lt"/>
              </a:rPr>
              <a:t>Easy to test, flexible, maintainable</a:t>
            </a:r>
          </a:p>
          <a:p>
            <a:r>
              <a:rPr lang="en-US" sz="2000" i="1" dirty="0">
                <a:ea typeface="+mn-lt"/>
                <a:cs typeface="+mn-lt"/>
              </a:rPr>
              <a:t>Like a bulb plugged into a socket – just unplug and replace</a:t>
            </a:r>
            <a:endParaRPr lang="en-US" sz="2000" dirty="0">
              <a:ea typeface="+mn-lt"/>
              <a:cs typeface="+mn-lt"/>
            </a:endParaRPr>
          </a:p>
          <a:p>
            <a:endParaRPr lang="en-US" sz="2000" dirty="0"/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119FD8D6-9BDB-0339-F9F8-E233E49998A0}"/>
              </a:ext>
            </a:extLst>
          </p:cNvPr>
          <p:cNvGraphicFramePr/>
          <p:nvPr/>
        </p:nvGraphicFramePr>
        <p:xfrm>
          <a:off x="172529" y="4478547"/>
          <a:ext cx="11386867" cy="1938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22926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3EB32D-37D5-DF3B-812D-2C562C5FF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06550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F1FD1-B827-68D8-2CE2-56C473401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Handshake">
            <a:extLst>
              <a:ext uri="{FF2B5EF4-FFF2-40B4-BE49-F238E27FC236}">
                <a16:creationId xmlns:a16="http://schemas.microsoft.com/office/drawing/2014/main" id="{E79EF52D-D8A0-CFA4-4F56-DEAEAB811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08521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128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Dependency Injection</vt:lpstr>
      <vt:lpstr>PowerPoint Presentation</vt:lpstr>
      <vt:lpstr>PowerPoint Presentation</vt:lpstr>
      <vt:lpstr>Demo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Ponnieaswari MS</cp:lastModifiedBy>
  <cp:revision>54</cp:revision>
  <dcterms:created xsi:type="dcterms:W3CDTF">2026-01-19T07:40:58Z</dcterms:created>
  <dcterms:modified xsi:type="dcterms:W3CDTF">2026-01-19T08:03:39Z</dcterms:modified>
</cp:coreProperties>
</file>