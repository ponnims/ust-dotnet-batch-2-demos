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7" r:id="rId1"/>
  </p:sldMasterIdLst>
  <p:notesMasterIdLst>
    <p:notesMasterId r:id="rId19"/>
  </p:notesMasterIdLst>
  <p:handoutMasterIdLst>
    <p:handoutMasterId r:id="rId20"/>
  </p:handout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9ED6"/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65" autoAdjust="0"/>
    <p:restoredTop sz="83977" autoAdjust="0"/>
  </p:normalViewPr>
  <p:slideViewPr>
    <p:cSldViewPr>
      <p:cViewPr varScale="1">
        <p:scale>
          <a:sx n="61" d="100"/>
          <a:sy n="61" d="100"/>
        </p:scale>
        <p:origin x="1758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4" d="100"/>
        <a:sy n="154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2832" y="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7DFCCD24-F7B1-43B7-8D70-BFC52DD44340}" type="datetimeFigureOut">
              <a:rPr lang="en-US"/>
              <a:pPr>
                <a:defRPr/>
              </a:pPr>
              <a:t>3/24/2026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DCD4E103-8EC7-4663-86FB-1483862DC6A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5394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0FB074BC-27EC-41FA-B00E-F642C9A7886E}" type="datetimeFigureOut">
              <a:rPr lang="en-US"/>
              <a:pPr>
                <a:defRPr/>
              </a:pPr>
              <a:t>3/24/2026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A591F15A-49E5-4291-9E69-520AB8CD9CC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24124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/>
              <a:t>This template can be used as a starter file for presenting training materials in a group setting.</a:t>
            </a:r>
          </a:p>
          <a:p>
            <a:pPr eaLnBrk="1" hangingPunct="1">
              <a:spcBef>
                <a:spcPct val="0"/>
              </a:spcBef>
            </a:pPr>
            <a:endParaRPr lang="en-US"/>
          </a:p>
          <a:p>
            <a:pPr eaLnBrk="1" hangingPunct="1">
              <a:spcBef>
                <a:spcPct val="0"/>
              </a:spcBef>
            </a:pPr>
            <a:r>
              <a:rPr lang="en-US" b="1"/>
              <a:t>Sections</a:t>
            </a:r>
            <a:endParaRPr lang="en-US"/>
          </a:p>
          <a:p>
            <a:pPr eaLnBrk="1" hangingPunct="1">
              <a:spcBef>
                <a:spcPct val="0"/>
              </a:spcBef>
            </a:pPr>
            <a:r>
              <a:rPr lang="en-US"/>
              <a:t>Right-click on a slide to add sections. Sections can help to organize your slides or facilitate collaboration between multiple authors.</a:t>
            </a:r>
          </a:p>
          <a:p>
            <a:pPr eaLnBrk="1" hangingPunct="1">
              <a:spcBef>
                <a:spcPct val="0"/>
              </a:spcBef>
            </a:pPr>
            <a:endParaRPr lang="en-US" b="1"/>
          </a:p>
          <a:p>
            <a:pPr eaLnBrk="1" hangingPunct="1">
              <a:spcBef>
                <a:spcPct val="0"/>
              </a:spcBef>
            </a:pPr>
            <a:r>
              <a:rPr lang="en-US" b="1"/>
              <a:t>Notes</a:t>
            </a:r>
          </a:p>
          <a:p>
            <a:pPr eaLnBrk="1" hangingPunct="1">
              <a:spcBef>
                <a:spcPct val="0"/>
              </a:spcBef>
            </a:pPr>
            <a:r>
              <a:rPr lang="en-US"/>
              <a:t>Use the Notes section for delivery notes or to provide additional details for the audience. View these notes in Presentation View during your presentation. </a:t>
            </a:r>
          </a:p>
          <a:p>
            <a:pPr eaLnBrk="1" hangingPunct="1">
              <a:spcBef>
                <a:spcPct val="0"/>
              </a:spcBef>
            </a:pPr>
            <a:r>
              <a:rPr lang="en-US"/>
              <a:t>Keep in mind the font size (important for accessibility, visibility, videotaping, and online production)</a:t>
            </a:r>
          </a:p>
          <a:p>
            <a:pPr eaLnBrk="1" hangingPunct="1">
              <a:spcBef>
                <a:spcPct val="0"/>
              </a:spcBef>
            </a:pPr>
            <a:endParaRPr lang="en-US"/>
          </a:p>
          <a:p>
            <a:pPr eaLnBrk="1" hangingPunct="1">
              <a:spcBef>
                <a:spcPct val="0"/>
              </a:spcBef>
            </a:pPr>
            <a:r>
              <a:rPr lang="en-US" b="1"/>
              <a:t>Coordinated colors </a:t>
            </a:r>
          </a:p>
          <a:p>
            <a:pPr eaLnBrk="1" hangingPunct="1">
              <a:spcBef>
                <a:spcPct val="0"/>
              </a:spcBef>
            </a:pPr>
            <a:r>
              <a:rPr lang="en-US"/>
              <a:t>Pay particular attention to the graphs, charts, and text boxes. </a:t>
            </a:r>
          </a:p>
          <a:p>
            <a:pPr eaLnBrk="1" hangingPunct="1">
              <a:spcBef>
                <a:spcPct val="0"/>
              </a:spcBef>
            </a:pPr>
            <a:r>
              <a:rPr lang="en-US"/>
              <a:t>Consider that attendees will print in black and white or grayscale. Run a test print to make sure your colors work when printed in pure black and white and grayscale.</a:t>
            </a:r>
          </a:p>
          <a:p>
            <a:pPr eaLnBrk="1" hangingPunct="1">
              <a:spcBef>
                <a:spcPct val="0"/>
              </a:spcBef>
            </a:pPr>
            <a:endParaRPr lang="en-US"/>
          </a:p>
          <a:p>
            <a:pPr eaLnBrk="1" hangingPunct="1">
              <a:spcBef>
                <a:spcPct val="0"/>
              </a:spcBef>
            </a:pPr>
            <a:r>
              <a:rPr lang="en-US" b="1"/>
              <a:t>Graphics, tables, and graphs</a:t>
            </a:r>
          </a:p>
          <a:p>
            <a:pPr eaLnBrk="1" hangingPunct="1">
              <a:spcBef>
                <a:spcPct val="0"/>
              </a:spcBef>
            </a:pPr>
            <a:r>
              <a:rPr lang="en-US"/>
              <a:t>Keep it simple: If possible, use consistent, non-distracting styles and colors.</a:t>
            </a:r>
          </a:p>
          <a:p>
            <a:pPr eaLnBrk="1" hangingPunct="1">
              <a:spcBef>
                <a:spcPct val="0"/>
              </a:spcBef>
            </a:pPr>
            <a:r>
              <a:rPr lang="en-US"/>
              <a:t>Label all graphs and tables.</a:t>
            </a:r>
          </a:p>
          <a:p>
            <a:pPr eaLnBrk="1" hangingPunct="1">
              <a:spcBef>
                <a:spcPct val="0"/>
              </a:spcBef>
            </a:pPr>
            <a:endParaRPr lang="en-US"/>
          </a:p>
          <a:p>
            <a:pPr eaLnBrk="1" hangingPunct="1">
              <a:spcBef>
                <a:spcPct val="0"/>
              </a:spcBef>
            </a:pPr>
            <a:endParaRPr lang="en-US"/>
          </a:p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FA6D0A6-5B60-484B-A4E0-209DFE3CBF83}" type="slidenum">
              <a:rPr lang="en-US" smtClean="0">
                <a:latin typeface="Calibri" panose="020F0502020204030204" pitchFamily="34" charset="0"/>
              </a:rPr>
              <a:pPr/>
              <a:t>1</a:t>
            </a:fld>
            <a:endParaRPr 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2557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612775"/>
          </a:xfrm>
          <a:prstGeom prst="rect">
            <a:avLst/>
          </a:prstGeom>
        </p:spPr>
        <p:txBody>
          <a:bodyPr/>
          <a:lstStyle>
            <a:lvl1pPr algn="ctr">
              <a:defRPr sz="2700" cap="small" baseline="0">
                <a:solidFill>
                  <a:srgbClr val="C0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23511778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1912703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638175"/>
          </a:xfrm>
          <a:prstGeom prst="rect">
            <a:avLst/>
          </a:prstGeom>
        </p:spPr>
        <p:txBody>
          <a:bodyPr/>
          <a:lstStyle>
            <a:lvl1pPr algn="ctr">
              <a:defRPr sz="2700" cap="small" baseline="0">
                <a:solidFill>
                  <a:srgbClr val="C0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0"/>
          </p:nvPr>
        </p:nvSpPr>
        <p:spPr>
          <a:xfrm>
            <a:off x="628650" y="1282700"/>
            <a:ext cx="7886700" cy="50038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>
                  <a:lumMod val="75000"/>
                </a:schemeClr>
              </a:buClr>
              <a:buSzPct val="110000"/>
              <a:buFont typeface="Courier New" panose="02070309020205020404" pitchFamily="49" charset="0"/>
              <a:buChar char="o"/>
              <a:defRPr sz="1350">
                <a:solidFill>
                  <a:schemeClr val="bg2">
                    <a:lumMod val="10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514350" indent="-171450">
              <a:buFont typeface="Wingdings" panose="05000000000000000000" pitchFamily="2" charset="2"/>
              <a:buChar char="§"/>
              <a:defRPr sz="1200">
                <a:solidFill>
                  <a:schemeClr val="bg2">
                    <a:lumMod val="10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857250" indent="-171450">
              <a:buFont typeface="Arial" panose="020B0604020202020204" pitchFamily="34" charset="0"/>
              <a:buChar char="–"/>
              <a:defRPr sz="1050">
                <a:solidFill>
                  <a:schemeClr val="bg2">
                    <a:lumMod val="10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84482673"/>
      </p:ext>
    </p:extLst>
  </p:cSld>
  <p:clrMapOvr>
    <a:masterClrMapping/>
  </p:clrMapOvr>
  <p:transition spd="slow"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y Sid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50" y="1282700"/>
            <a:ext cx="3257550" cy="5143500"/>
          </a:xfrm>
          <a:prstGeom prst="rect">
            <a:avLst/>
          </a:prstGeom>
        </p:spPr>
        <p:txBody>
          <a:bodyPr/>
          <a:lstStyle>
            <a:lvl1pPr>
              <a:defRPr lang="en-US" sz="1350" dirty="0" smtClean="0">
                <a:solidFill>
                  <a:schemeClr val="bg2">
                    <a:lumMod val="10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>
              <a:defRPr lang="en-US" sz="1200" dirty="0" smtClean="0">
                <a:solidFill>
                  <a:schemeClr val="bg2">
                    <a:lumMod val="10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>
              <a:defRPr lang="en-US" sz="1050" dirty="0" smtClean="0">
                <a:solidFill>
                  <a:schemeClr val="bg2">
                    <a:lumMod val="10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638175"/>
          </a:xfrm>
          <a:prstGeom prst="rect">
            <a:avLst/>
          </a:prstGeom>
        </p:spPr>
        <p:txBody>
          <a:bodyPr/>
          <a:lstStyle>
            <a:lvl1pPr algn="ctr">
              <a:defRPr sz="2700" cap="small" baseline="0">
                <a:solidFill>
                  <a:srgbClr val="C0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5"/>
          <p:cNvSpPr>
            <a:spLocks noGrp="1"/>
          </p:cNvSpPr>
          <p:nvPr>
            <p:ph sz="quarter" idx="11"/>
          </p:nvPr>
        </p:nvSpPr>
        <p:spPr>
          <a:xfrm>
            <a:off x="5267325" y="1282700"/>
            <a:ext cx="3257550" cy="5143500"/>
          </a:xfrm>
          <a:prstGeom prst="rect">
            <a:avLst/>
          </a:prstGeom>
        </p:spPr>
        <p:txBody>
          <a:bodyPr/>
          <a:lstStyle>
            <a:lvl1pPr>
              <a:defRPr lang="en-US" sz="1350" dirty="0" smtClean="0">
                <a:solidFill>
                  <a:schemeClr val="bg2">
                    <a:lumMod val="10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>
              <a:defRPr lang="en-US" sz="1200" dirty="0" smtClean="0">
                <a:solidFill>
                  <a:schemeClr val="bg2">
                    <a:lumMod val="10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>
              <a:defRPr lang="en-US" sz="1050" dirty="0" smtClean="0">
                <a:solidFill>
                  <a:schemeClr val="bg2">
                    <a:lumMod val="10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140143285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416415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rt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638175"/>
          </a:xfrm>
          <a:prstGeom prst="rect">
            <a:avLst/>
          </a:prstGeom>
        </p:spPr>
        <p:txBody>
          <a:bodyPr/>
          <a:lstStyle>
            <a:lvl1pPr algn="ctr">
              <a:defRPr sz="2700" cap="small" baseline="0">
                <a:solidFill>
                  <a:srgbClr val="C0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martArt Placeholder 3"/>
          <p:cNvSpPr>
            <a:spLocks noGrp="1"/>
          </p:cNvSpPr>
          <p:nvPr>
            <p:ph type="dgm" sz="quarter" idx="10"/>
          </p:nvPr>
        </p:nvSpPr>
        <p:spPr>
          <a:xfrm>
            <a:off x="628650" y="1295400"/>
            <a:ext cx="7886700" cy="4851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 dirty="0"/>
              <a:t>Click icon to add SmartArt graphic</a:t>
            </a:r>
          </a:p>
        </p:txBody>
      </p:sp>
    </p:spTree>
    <p:extLst>
      <p:ext uri="{BB962C8B-B14F-4D97-AF65-F5344CB8AC3E}">
        <p14:creationId xmlns:p14="http://schemas.microsoft.com/office/powerpoint/2010/main" val="773748472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>
            <a:off x="1690688" y="3606800"/>
            <a:ext cx="57626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1690688" y="3041256"/>
            <a:ext cx="5762625" cy="565544"/>
          </a:xfrm>
          <a:prstGeom prst="rect">
            <a:avLst/>
          </a:prstGeom>
        </p:spPr>
        <p:txBody>
          <a:bodyPr/>
          <a:lstStyle>
            <a:lvl1pPr algn="ctr">
              <a:defRPr sz="2700" cap="small" baseline="0">
                <a:solidFill>
                  <a:srgbClr val="C0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23618564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jec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>
            <a:off x="3176588" y="3606800"/>
            <a:ext cx="57626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6072" y="2882900"/>
            <a:ext cx="5762625" cy="723900"/>
          </a:xfrm>
          <a:prstGeom prst="rect">
            <a:avLst/>
          </a:prstGeom>
        </p:spPr>
        <p:txBody>
          <a:bodyPr/>
          <a:lstStyle>
            <a:lvl1pPr algn="r">
              <a:defRPr sz="2700" cap="small" baseline="0">
                <a:solidFill>
                  <a:srgbClr val="C0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2327061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690688" y="3606800"/>
            <a:ext cx="57626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1690688" y="3041256"/>
            <a:ext cx="5762625" cy="565544"/>
          </a:xfrm>
          <a:prstGeom prst="rect">
            <a:avLst/>
          </a:prstGeom>
        </p:spPr>
        <p:txBody>
          <a:bodyPr/>
          <a:lstStyle>
            <a:lvl1pPr algn="ctr">
              <a:defRPr sz="2700" cap="small" baseline="0">
                <a:solidFill>
                  <a:srgbClr val="C0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5883465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6" r:id="rId3"/>
    <p:sldLayoutId id="2147483879" r:id="rId4"/>
    <p:sldLayoutId id="2147483880" r:id="rId5"/>
    <p:sldLayoutId id="2147483881" r:id="rId6"/>
    <p:sldLayoutId id="2147483882" r:id="rId7"/>
    <p:sldLayoutId id="2147483883" r:id="rId8"/>
    <p:sldLayoutId id="2147483884" r:id="rId9"/>
  </p:sldLayoutIdLst>
  <p:transition spd="slow">
    <p:wipe dir="d"/>
  </p:transition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itchFamily="34" charset="0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690688" y="3041256"/>
            <a:ext cx="5762625" cy="565544"/>
          </a:xfrm>
        </p:spPr>
        <p:txBody>
          <a:bodyPr rtlCol="0">
            <a:noAutofit/>
          </a:bodyPr>
          <a:lstStyle/>
          <a:p>
            <a:r>
              <a:rPr lang="en-US" dirty="0"/>
              <a:t>Overview of Agile Methodology</a:t>
            </a:r>
          </a:p>
        </p:txBody>
      </p:sp>
    </p:spTree>
    <p:custDataLst>
      <p:tags r:id="rId1"/>
    </p:custDataLst>
  </p:cSld>
  <p:clrMapOvr>
    <a:masterClrMapping/>
  </p:clrMapOvr>
  <p:transition spd="slow" advTm="6043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sz="2000" dirty="0">
                <a:latin typeface="Lucida Sans" panose="020B0602030504020204" pitchFamily="34" charset="0"/>
              </a:rPr>
              <a:t>Software development processes</a:t>
            </a:r>
          </a:p>
          <a:p>
            <a:pPr lvl="1">
              <a:lnSpc>
                <a:spcPct val="200000"/>
              </a:lnSpc>
            </a:pPr>
            <a:r>
              <a:rPr lang="en-US" sz="2000" dirty="0">
                <a:latin typeface="Lucida Sans" panose="020B0602030504020204" pitchFamily="34" charset="0"/>
              </a:rPr>
              <a:t>Water Fall Model</a:t>
            </a:r>
          </a:p>
          <a:p>
            <a:pPr lvl="1">
              <a:lnSpc>
                <a:spcPct val="200000"/>
              </a:lnSpc>
            </a:pPr>
            <a:r>
              <a:rPr lang="en-US" sz="2000" dirty="0">
                <a:latin typeface="Lucida Sans" panose="020B0602030504020204" pitchFamily="34" charset="0"/>
              </a:rPr>
              <a:t>Agile Model</a:t>
            </a:r>
          </a:p>
        </p:txBody>
      </p:sp>
    </p:spTree>
    <p:extLst>
      <p:ext uri="{BB962C8B-B14F-4D97-AF65-F5344CB8AC3E}">
        <p14:creationId xmlns:p14="http://schemas.microsoft.com/office/powerpoint/2010/main" val="3188381996"/>
      </p:ext>
    </p:extLst>
  </p:cSld>
  <p:clrMapOvr>
    <a:masterClrMapping/>
  </p:clrMapOvr>
  <p:transition spd="slow">
    <p:wipe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Waterfall Development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999" y="1077749"/>
            <a:ext cx="8100001" cy="486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259044"/>
      </p:ext>
    </p:extLst>
  </p:cSld>
  <p:clrMapOvr>
    <a:masterClrMapping/>
  </p:clrMapOvr>
  <p:transition spd="slow">
    <p:wipe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Waterfall Development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999" y="1049624"/>
            <a:ext cx="7920001" cy="4758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764913"/>
      </p:ext>
    </p:extLst>
  </p:cSld>
  <p:clrMapOvr>
    <a:masterClrMapping/>
  </p:clrMapOvr>
  <p:transition spd="slow">
    <p:wipe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999" y="565874"/>
            <a:ext cx="8190001" cy="5726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180941"/>
      </p:ext>
    </p:extLst>
  </p:cSld>
  <p:clrMapOvr>
    <a:masterClrMapping/>
  </p:clrMapOvr>
  <p:transition spd="slow">
    <p:wipe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999" y="1353375"/>
            <a:ext cx="7650001" cy="415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666772"/>
      </p:ext>
    </p:extLst>
  </p:cSld>
  <p:clrMapOvr>
    <a:masterClrMapping/>
  </p:clrMapOvr>
  <p:transition spd="slow">
    <p:wipe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Manifesto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499" y="1043999"/>
            <a:ext cx="7875001" cy="477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231119"/>
      </p:ext>
    </p:extLst>
  </p:cSld>
  <p:clrMapOvr>
    <a:masterClrMapping/>
  </p:clrMapOvr>
  <p:transition spd="slow">
    <p:wipe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Umbrella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99" y="1003303"/>
            <a:ext cx="8460001" cy="5052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448208"/>
      </p:ext>
    </p:extLst>
  </p:cSld>
  <p:clrMapOvr>
    <a:masterClrMapping/>
  </p:clrMapOvr>
  <p:transition spd="slow">
    <p:wipe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99" y="1003303"/>
            <a:ext cx="8010001" cy="5125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863513"/>
      </p:ext>
    </p:extLst>
  </p:cSld>
  <p:clrMapOvr>
    <a:masterClrMapping/>
  </p:clrMapOvr>
  <p:transition spd="slow">
    <p:wipe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49" y="152400"/>
            <a:ext cx="7886700" cy="638175"/>
          </a:xfrm>
        </p:spPr>
        <p:txBody>
          <a:bodyPr/>
          <a:lstStyle/>
          <a:p>
            <a:r>
              <a:rPr lang="en-US" dirty="0"/>
              <a:t>Agile - Planning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99" y="1004624"/>
            <a:ext cx="8010001" cy="4848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458214"/>
      </p:ext>
    </p:extLst>
  </p:cSld>
  <p:clrMapOvr>
    <a:masterClrMapping/>
  </p:clrMapOvr>
  <p:transition spd="slow">
    <p:wipe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</a:t>
            </a:r>
            <a:r>
              <a:rPr lang="en-US" dirty="0" err="1"/>
              <a:t>vs</a:t>
            </a:r>
            <a:r>
              <a:rPr lang="en-US" dirty="0"/>
              <a:t> Waterfall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999" y="1342125"/>
            <a:ext cx="6390001" cy="417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653517"/>
      </p:ext>
    </p:extLst>
  </p:cSld>
  <p:clrMapOvr>
    <a:masterClrMapping/>
  </p:clrMapOvr>
  <p:transition spd="slow">
    <p:wipe dir="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499" y="560249"/>
            <a:ext cx="7425001" cy="5737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904561"/>
      </p:ext>
    </p:extLst>
  </p:cSld>
  <p:clrMapOvr>
    <a:masterClrMapping/>
  </p:clrMapOvr>
  <p:transition spd="slow">
    <p:wipe dir="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we do in Scrum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999" y="976499"/>
            <a:ext cx="8100001" cy="490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074591"/>
      </p:ext>
    </p:extLst>
  </p:cSld>
  <p:clrMapOvr>
    <a:masterClrMapping/>
  </p:clrMapOvr>
  <p:transition spd="slow">
    <p:wipe dir="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999" y="1003303"/>
            <a:ext cx="8280001" cy="5388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25731"/>
      </p:ext>
    </p:extLst>
  </p:cSld>
  <p:clrMapOvr>
    <a:masterClrMapping/>
  </p:clrMapOvr>
  <p:transition spd="slow">
    <p:wipe dir="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Planning Example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999" y="1179000"/>
            <a:ext cx="8190001" cy="499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654428"/>
      </p:ext>
    </p:extLst>
  </p:cSld>
  <p:clrMapOvr>
    <a:masterClrMapping/>
  </p:clrMapOvr>
  <p:transition spd="slow">
    <p:wipe dir="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in a Nut Shell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295400"/>
            <a:ext cx="8010001" cy="5028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937050"/>
      </p:ext>
    </p:extLst>
  </p:cSld>
  <p:clrMapOvr>
    <a:masterClrMapping/>
  </p:clrMapOvr>
  <p:transition spd="slow">
    <p:wipe dir="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2614921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yI2DOt6RzRcU51QxdhNewL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AGzTPKJNXuuOK4v20iPS7"/>
</p:tagLst>
</file>

<file path=ppt/theme/theme1.xml><?xml version="1.0" encoding="utf-8"?>
<a:theme xmlns:a="http://schemas.openxmlformats.org/drawingml/2006/main" name="CP New Them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P New Theme1" id="{4F4DFF23-F26B-4DBF-A5B7-39C8BCF6F7AE}" vid="{E3BD4C1A-DE48-4E7A-954D-1D53C90350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CP New Theme1</Template>
  <TotalTime>32</TotalTime>
  <Words>206</Words>
  <Application>Microsoft Office PowerPoint</Application>
  <PresentationFormat>On-screen Show (4:3)</PresentationFormat>
  <Paragraphs>35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Calibri Light</vt:lpstr>
      <vt:lpstr>Courier New</vt:lpstr>
      <vt:lpstr>Lucida Sans</vt:lpstr>
      <vt:lpstr>Lucida Sans Unicode</vt:lpstr>
      <vt:lpstr>Wingdings</vt:lpstr>
      <vt:lpstr>CP New Theme1</vt:lpstr>
      <vt:lpstr>Overview of Agile Methodology</vt:lpstr>
      <vt:lpstr>Objectives</vt:lpstr>
      <vt:lpstr>Waterfall Development</vt:lpstr>
      <vt:lpstr>Waterfall Development</vt:lpstr>
      <vt:lpstr>PowerPoint Presentation</vt:lpstr>
      <vt:lpstr>Agile</vt:lpstr>
      <vt:lpstr>Agile Manifesto</vt:lpstr>
      <vt:lpstr>Agile Umbrella</vt:lpstr>
      <vt:lpstr>Scrum</vt:lpstr>
      <vt:lpstr>Agile - Planning</vt:lpstr>
      <vt:lpstr>Scrum vs Waterfall</vt:lpstr>
      <vt:lpstr>PowerPoint Presentation</vt:lpstr>
      <vt:lpstr>Things we do in Scrum</vt:lpstr>
      <vt:lpstr>PowerPoint Presentation</vt:lpstr>
      <vt:lpstr>Scrum Planning Example</vt:lpstr>
      <vt:lpstr>Scrum in a Nut Shell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SECURITY</dc:title>
  <dc:creator/>
  <cp:lastModifiedBy>Ponnieaswari MS</cp:lastModifiedBy>
  <cp:revision>2</cp:revision>
  <dcterms:created xsi:type="dcterms:W3CDTF">2012-07-16T07:14:00Z</dcterms:created>
  <dcterms:modified xsi:type="dcterms:W3CDTF">2026-03-24T06:24:10Z</dcterms:modified>
</cp:coreProperties>
</file>